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0" r:id="rId2"/>
    <p:sldId id="264" r:id="rId3"/>
    <p:sldId id="262" r:id="rId4"/>
    <p:sldId id="265" r:id="rId5"/>
    <p:sldId id="266" r:id="rId6"/>
    <p:sldId id="267" r:id="rId7"/>
    <p:sldId id="268" r:id="rId8"/>
    <p:sldId id="269" r:id="rId9"/>
    <p:sldId id="270" r:id="rId10"/>
    <p:sldId id="27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62C585-9E2D-447F-B3F8-EDEBD905CA60}" v="1615" dt="2025-05-23T21:59:56.621"/>
    <p1510:client id="{783B4888-51B1-4E5B-8979-553B14AFB012}" v="157" dt="2025-05-23T18:49:50.0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968504-B06D-4A45-B639-24DC676C8D5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8107FF5-C2A5-428A-A2EA-DAED324EC3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10 busiest round-trip routes in terms of number of round-trip flights in the quarter. Exclude canceled flights when performing the calculation.</a:t>
          </a:r>
        </a:p>
      </dgm:t>
    </dgm:pt>
    <dgm:pt modelId="{13D69530-7B5B-4C84-B738-F7EA7CEEC272}" type="parTrans" cxnId="{D63E44AC-7422-4016-B86B-C48EBC372C83}">
      <dgm:prSet/>
      <dgm:spPr/>
      <dgm:t>
        <a:bodyPr/>
        <a:lstStyle/>
        <a:p>
          <a:endParaRPr lang="en-US"/>
        </a:p>
      </dgm:t>
    </dgm:pt>
    <dgm:pt modelId="{E4C5898F-E44F-44E5-AE13-E276D7FA8301}" type="sibTrans" cxnId="{D63E44AC-7422-4016-B86B-C48EBC372C83}">
      <dgm:prSet/>
      <dgm:spPr/>
      <dgm:t>
        <a:bodyPr/>
        <a:lstStyle/>
        <a:p>
          <a:endParaRPr lang="en-US"/>
        </a:p>
      </dgm:t>
    </dgm:pt>
    <dgm:pt modelId="{54D3DF8B-1104-452F-B027-40818EAE3D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10 most profitable round-trip routes (without considering the upfront airplane cost) in the quarter. Along with the profit, show total revenue, total cost, summary values of other key components and total round-trip flights in the quarter for the top 10 most profitable routes. Exclude canceled flights from these calculations.​</a:t>
          </a:r>
        </a:p>
      </dgm:t>
    </dgm:pt>
    <dgm:pt modelId="{B05F1536-4BC9-4D0A-9BEC-1BE211E53F4F}" type="parTrans" cxnId="{CD142778-24B5-470D-B6CE-E916D0DB8A18}">
      <dgm:prSet/>
      <dgm:spPr/>
      <dgm:t>
        <a:bodyPr/>
        <a:lstStyle/>
        <a:p>
          <a:endParaRPr lang="en-US"/>
        </a:p>
      </dgm:t>
    </dgm:pt>
    <dgm:pt modelId="{750FD95A-3C1F-4763-B3B1-3955870CB73A}" type="sibTrans" cxnId="{CD142778-24B5-470D-B6CE-E916D0DB8A18}">
      <dgm:prSet/>
      <dgm:spPr/>
      <dgm:t>
        <a:bodyPr/>
        <a:lstStyle/>
        <a:p>
          <a:endParaRPr lang="en-US"/>
        </a:p>
      </dgm:t>
    </dgm:pt>
    <dgm:pt modelId="{FB0CF7D6-3212-4B83-8BE6-82DEDEFDD1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5 round trip routes that you recommend to invest in based on any factors that you choose.​</a:t>
          </a:r>
        </a:p>
      </dgm:t>
    </dgm:pt>
    <dgm:pt modelId="{1BE760FF-3623-4933-ABC9-FD4700204DF1}" type="parTrans" cxnId="{9D9CA900-1119-4ECC-A3B5-6E78AD7CAF59}">
      <dgm:prSet/>
      <dgm:spPr/>
      <dgm:t>
        <a:bodyPr/>
        <a:lstStyle/>
        <a:p>
          <a:endParaRPr lang="en-US"/>
        </a:p>
      </dgm:t>
    </dgm:pt>
    <dgm:pt modelId="{82883CF7-D7D3-4B5E-AB49-2053051578C7}" type="sibTrans" cxnId="{9D9CA900-1119-4ECC-A3B5-6E78AD7CAF59}">
      <dgm:prSet/>
      <dgm:spPr/>
      <dgm:t>
        <a:bodyPr/>
        <a:lstStyle/>
        <a:p>
          <a:endParaRPr lang="en-US"/>
        </a:p>
      </dgm:t>
    </dgm:pt>
    <dgm:pt modelId="{DA5AB540-92CD-446D-8445-9D70890CEC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number of round trip flights it will take to breakeven on the upfront airplane cost for each of the 5 round trip routes that you recommend. Print key summary components for these routes.</a:t>
          </a:r>
        </a:p>
      </dgm:t>
    </dgm:pt>
    <dgm:pt modelId="{F720A92B-E2EE-4EC6-9699-C038D05E1BF2}" type="parTrans" cxnId="{54A4E7A3-C3C3-40F3-8C43-FA348FA9DA33}">
      <dgm:prSet/>
      <dgm:spPr/>
      <dgm:t>
        <a:bodyPr/>
        <a:lstStyle/>
        <a:p>
          <a:endParaRPr lang="en-US"/>
        </a:p>
      </dgm:t>
    </dgm:pt>
    <dgm:pt modelId="{25042A8F-D97A-4FE4-A90C-2FFDB8371B1F}" type="sibTrans" cxnId="{54A4E7A3-C3C3-40F3-8C43-FA348FA9DA33}">
      <dgm:prSet/>
      <dgm:spPr/>
      <dgm:t>
        <a:bodyPr/>
        <a:lstStyle/>
        <a:p>
          <a:endParaRPr lang="en-US"/>
        </a:p>
      </dgm:t>
    </dgm:pt>
    <dgm:pt modelId="{3537638E-86FE-4D01-A5E5-EC197E5E87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Key Performance Indicators (KPI’s) that you recommend tracking in the future to measure the success of the round trip routes that you recommend.</a:t>
          </a:r>
        </a:p>
      </dgm:t>
    </dgm:pt>
    <dgm:pt modelId="{76A35036-F77C-43A6-B179-C76DCFF772FF}" type="parTrans" cxnId="{6D9F53EC-BAB9-4455-9D83-31DF9307192E}">
      <dgm:prSet/>
      <dgm:spPr/>
      <dgm:t>
        <a:bodyPr/>
        <a:lstStyle/>
        <a:p>
          <a:endParaRPr lang="en-US"/>
        </a:p>
      </dgm:t>
    </dgm:pt>
    <dgm:pt modelId="{25CBF658-B96A-455C-BD13-3FDA4F46C214}" type="sibTrans" cxnId="{6D9F53EC-BAB9-4455-9D83-31DF9307192E}">
      <dgm:prSet/>
      <dgm:spPr/>
      <dgm:t>
        <a:bodyPr/>
        <a:lstStyle/>
        <a:p>
          <a:endParaRPr lang="en-US"/>
        </a:p>
      </dgm:t>
    </dgm:pt>
    <dgm:pt modelId="{CF812927-A0F7-4913-AD75-336591FC1F53}" type="pres">
      <dgm:prSet presAssocID="{BC968504-B06D-4A45-B639-24DC676C8D5D}" presName="root" presStyleCnt="0">
        <dgm:presLayoutVars>
          <dgm:dir/>
          <dgm:resizeHandles val="exact"/>
        </dgm:presLayoutVars>
      </dgm:prSet>
      <dgm:spPr/>
    </dgm:pt>
    <dgm:pt modelId="{0FD24A1D-D8BC-4974-88BE-9A8E6D81BEAC}" type="pres">
      <dgm:prSet presAssocID="{E8107FF5-C2A5-428A-A2EA-DAED324EC390}" presName="compNode" presStyleCnt="0"/>
      <dgm:spPr/>
    </dgm:pt>
    <dgm:pt modelId="{8F18575E-A8B6-46B6-8AC8-7E623CBC7DDD}" type="pres">
      <dgm:prSet presAssocID="{E8107FF5-C2A5-428A-A2EA-DAED324EC390}" presName="bgRect" presStyleLbl="bgShp" presStyleIdx="0" presStyleCnt="5"/>
      <dgm:spPr/>
    </dgm:pt>
    <dgm:pt modelId="{E9E6CF20-20F0-4787-9D1C-3FEA48ED53C9}" type="pres">
      <dgm:prSet presAssocID="{E8107FF5-C2A5-428A-A2EA-DAED324EC39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lot"/>
        </a:ext>
      </dgm:extLst>
    </dgm:pt>
    <dgm:pt modelId="{DC6427A4-1983-4B95-9461-C6CCE3A21710}" type="pres">
      <dgm:prSet presAssocID="{E8107FF5-C2A5-428A-A2EA-DAED324EC390}" presName="spaceRect" presStyleCnt="0"/>
      <dgm:spPr/>
    </dgm:pt>
    <dgm:pt modelId="{EB8FAAD6-EDCE-414D-A214-39334ACD634E}" type="pres">
      <dgm:prSet presAssocID="{E8107FF5-C2A5-428A-A2EA-DAED324EC390}" presName="parTx" presStyleLbl="revTx" presStyleIdx="0" presStyleCnt="5">
        <dgm:presLayoutVars>
          <dgm:chMax val="0"/>
          <dgm:chPref val="0"/>
        </dgm:presLayoutVars>
      </dgm:prSet>
      <dgm:spPr/>
    </dgm:pt>
    <dgm:pt modelId="{A5ECC21F-C4CF-4816-A3A8-3E9EB09288ED}" type="pres">
      <dgm:prSet presAssocID="{E4C5898F-E44F-44E5-AE13-E276D7FA8301}" presName="sibTrans" presStyleCnt="0"/>
      <dgm:spPr/>
    </dgm:pt>
    <dgm:pt modelId="{6E04FF97-357A-45B6-834E-1EADF60CD847}" type="pres">
      <dgm:prSet presAssocID="{54D3DF8B-1104-452F-B027-40818EAE3D72}" presName="compNode" presStyleCnt="0"/>
      <dgm:spPr/>
    </dgm:pt>
    <dgm:pt modelId="{4166A1FD-DC73-42B2-8F49-A30EAB33E42A}" type="pres">
      <dgm:prSet presAssocID="{54D3DF8B-1104-452F-B027-40818EAE3D72}" presName="bgRect" presStyleLbl="bgShp" presStyleIdx="1" presStyleCnt="5"/>
      <dgm:spPr/>
    </dgm:pt>
    <dgm:pt modelId="{4D8DC002-4C82-4C22-91CB-EF1C1761BC6B}" type="pres">
      <dgm:prSet presAssocID="{54D3DF8B-1104-452F-B027-40818EAE3D7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eroplane"/>
        </a:ext>
      </dgm:extLst>
    </dgm:pt>
    <dgm:pt modelId="{3B47FB3F-490B-4C4E-A770-12AFA2F7100C}" type="pres">
      <dgm:prSet presAssocID="{54D3DF8B-1104-452F-B027-40818EAE3D72}" presName="spaceRect" presStyleCnt="0"/>
      <dgm:spPr/>
    </dgm:pt>
    <dgm:pt modelId="{53113DA0-BABA-46F0-B668-20452E777865}" type="pres">
      <dgm:prSet presAssocID="{54D3DF8B-1104-452F-B027-40818EAE3D72}" presName="parTx" presStyleLbl="revTx" presStyleIdx="1" presStyleCnt="5">
        <dgm:presLayoutVars>
          <dgm:chMax val="0"/>
          <dgm:chPref val="0"/>
        </dgm:presLayoutVars>
      </dgm:prSet>
      <dgm:spPr/>
    </dgm:pt>
    <dgm:pt modelId="{EA4B6A24-FCA5-4823-952C-483C512A3720}" type="pres">
      <dgm:prSet presAssocID="{750FD95A-3C1F-4763-B3B1-3955870CB73A}" presName="sibTrans" presStyleCnt="0"/>
      <dgm:spPr/>
    </dgm:pt>
    <dgm:pt modelId="{73461A4A-C86D-4B29-87B3-0B1F195D9AF1}" type="pres">
      <dgm:prSet presAssocID="{FB0CF7D6-3212-4B83-8BE6-82DEDEFDD1BF}" presName="compNode" presStyleCnt="0"/>
      <dgm:spPr/>
    </dgm:pt>
    <dgm:pt modelId="{03D4A730-DEE3-424A-BB06-7F2B8F773482}" type="pres">
      <dgm:prSet presAssocID="{FB0CF7D6-3212-4B83-8BE6-82DEDEFDD1BF}" presName="bgRect" presStyleLbl="bgShp" presStyleIdx="2" presStyleCnt="5"/>
      <dgm:spPr/>
    </dgm:pt>
    <dgm:pt modelId="{BB715C97-79EC-4EAB-BD50-FE68D8855EB4}" type="pres">
      <dgm:prSet presAssocID="{FB0CF7D6-3212-4B83-8BE6-82DEDEFDD1B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 with solid fill"/>
        </a:ext>
      </dgm:extLst>
    </dgm:pt>
    <dgm:pt modelId="{8218F1EE-13EB-4706-B567-2D68BE12FAF0}" type="pres">
      <dgm:prSet presAssocID="{FB0CF7D6-3212-4B83-8BE6-82DEDEFDD1BF}" presName="spaceRect" presStyleCnt="0"/>
      <dgm:spPr/>
    </dgm:pt>
    <dgm:pt modelId="{2444352F-AA71-4F60-B091-B08677C86267}" type="pres">
      <dgm:prSet presAssocID="{FB0CF7D6-3212-4B83-8BE6-82DEDEFDD1BF}" presName="parTx" presStyleLbl="revTx" presStyleIdx="2" presStyleCnt="5">
        <dgm:presLayoutVars>
          <dgm:chMax val="0"/>
          <dgm:chPref val="0"/>
        </dgm:presLayoutVars>
      </dgm:prSet>
      <dgm:spPr/>
    </dgm:pt>
    <dgm:pt modelId="{8796B696-1D1A-4102-B09F-61B44C533638}" type="pres">
      <dgm:prSet presAssocID="{82883CF7-D7D3-4B5E-AB49-2053051578C7}" presName="sibTrans" presStyleCnt="0"/>
      <dgm:spPr/>
    </dgm:pt>
    <dgm:pt modelId="{A78B0F3E-062D-44EB-BBFC-84A39AE12E6B}" type="pres">
      <dgm:prSet presAssocID="{DA5AB540-92CD-446D-8445-9D70890CEC66}" presName="compNode" presStyleCnt="0"/>
      <dgm:spPr/>
    </dgm:pt>
    <dgm:pt modelId="{6793CAE1-7C4C-49F2-AC47-1000B9D8E4FC}" type="pres">
      <dgm:prSet presAssocID="{DA5AB540-92CD-446D-8445-9D70890CEC66}" presName="bgRect" presStyleLbl="bgShp" presStyleIdx="3" presStyleCnt="5"/>
      <dgm:spPr/>
    </dgm:pt>
    <dgm:pt modelId="{3246BCFA-C03F-4E50-9050-40266D285D7C}" type="pres">
      <dgm:prSet presAssocID="{DA5AB540-92CD-446D-8445-9D70890CEC6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9486959C-1351-4B7D-AF28-3256FA7FF6FA}" type="pres">
      <dgm:prSet presAssocID="{DA5AB540-92CD-446D-8445-9D70890CEC66}" presName="spaceRect" presStyleCnt="0"/>
      <dgm:spPr/>
    </dgm:pt>
    <dgm:pt modelId="{9F7C21BE-8EAB-4AE5-AFD3-73D84979E427}" type="pres">
      <dgm:prSet presAssocID="{DA5AB540-92CD-446D-8445-9D70890CEC66}" presName="parTx" presStyleLbl="revTx" presStyleIdx="3" presStyleCnt="5">
        <dgm:presLayoutVars>
          <dgm:chMax val="0"/>
          <dgm:chPref val="0"/>
        </dgm:presLayoutVars>
      </dgm:prSet>
      <dgm:spPr/>
    </dgm:pt>
    <dgm:pt modelId="{C24FC323-FDE8-4BE4-93F0-B92F02D10CBB}" type="pres">
      <dgm:prSet presAssocID="{25042A8F-D97A-4FE4-A90C-2FFDB8371B1F}" presName="sibTrans" presStyleCnt="0"/>
      <dgm:spPr/>
    </dgm:pt>
    <dgm:pt modelId="{318AA766-B9FB-4D43-B997-3FCEFD9969E3}" type="pres">
      <dgm:prSet presAssocID="{3537638E-86FE-4D01-A5E5-EC197E5E8703}" presName="compNode" presStyleCnt="0"/>
      <dgm:spPr/>
    </dgm:pt>
    <dgm:pt modelId="{08F2B3D2-57A5-4307-9D7A-802EBF35F37B}" type="pres">
      <dgm:prSet presAssocID="{3537638E-86FE-4D01-A5E5-EC197E5E8703}" presName="bgRect" presStyleLbl="bgShp" presStyleIdx="4" presStyleCnt="5" custLinFactNeighborX="-2406" custLinFactNeighborY="-4155"/>
      <dgm:spPr/>
    </dgm:pt>
    <dgm:pt modelId="{D74D65CE-2870-44D5-B8D1-BF714EF634DE}" type="pres">
      <dgm:prSet presAssocID="{3537638E-86FE-4D01-A5E5-EC197E5E870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DB9A2697-9EB2-458F-99FE-5B396B1CC231}" type="pres">
      <dgm:prSet presAssocID="{3537638E-86FE-4D01-A5E5-EC197E5E8703}" presName="spaceRect" presStyleCnt="0"/>
      <dgm:spPr/>
    </dgm:pt>
    <dgm:pt modelId="{88C9BF28-CB84-4A9B-A535-98CF2438AED8}" type="pres">
      <dgm:prSet presAssocID="{3537638E-86FE-4D01-A5E5-EC197E5E8703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9D9CA900-1119-4ECC-A3B5-6E78AD7CAF59}" srcId="{BC968504-B06D-4A45-B639-24DC676C8D5D}" destId="{FB0CF7D6-3212-4B83-8BE6-82DEDEFDD1BF}" srcOrd="2" destOrd="0" parTransId="{1BE760FF-3623-4933-ABC9-FD4700204DF1}" sibTransId="{82883CF7-D7D3-4B5E-AB49-2053051578C7}"/>
    <dgm:cxn modelId="{194A8537-235D-49F4-AA88-154E00C72286}" type="presOf" srcId="{FB0CF7D6-3212-4B83-8BE6-82DEDEFDD1BF}" destId="{2444352F-AA71-4F60-B091-B08677C86267}" srcOrd="0" destOrd="0" presId="urn:microsoft.com/office/officeart/2018/2/layout/IconVerticalSolidList"/>
    <dgm:cxn modelId="{CD142778-24B5-470D-B6CE-E916D0DB8A18}" srcId="{BC968504-B06D-4A45-B639-24DC676C8D5D}" destId="{54D3DF8B-1104-452F-B027-40818EAE3D72}" srcOrd="1" destOrd="0" parTransId="{B05F1536-4BC9-4D0A-9BEC-1BE211E53F4F}" sibTransId="{750FD95A-3C1F-4763-B3B1-3955870CB73A}"/>
    <dgm:cxn modelId="{DAE2E194-248B-483E-A884-6D48DD18684E}" type="presOf" srcId="{BC968504-B06D-4A45-B639-24DC676C8D5D}" destId="{CF812927-A0F7-4913-AD75-336591FC1F53}" srcOrd="0" destOrd="0" presId="urn:microsoft.com/office/officeart/2018/2/layout/IconVerticalSolidList"/>
    <dgm:cxn modelId="{54A4E7A3-C3C3-40F3-8C43-FA348FA9DA33}" srcId="{BC968504-B06D-4A45-B639-24DC676C8D5D}" destId="{DA5AB540-92CD-446D-8445-9D70890CEC66}" srcOrd="3" destOrd="0" parTransId="{F720A92B-E2EE-4EC6-9699-C038D05E1BF2}" sibTransId="{25042A8F-D97A-4FE4-A90C-2FFDB8371B1F}"/>
    <dgm:cxn modelId="{D63E44AC-7422-4016-B86B-C48EBC372C83}" srcId="{BC968504-B06D-4A45-B639-24DC676C8D5D}" destId="{E8107FF5-C2A5-428A-A2EA-DAED324EC390}" srcOrd="0" destOrd="0" parTransId="{13D69530-7B5B-4C84-B738-F7EA7CEEC272}" sibTransId="{E4C5898F-E44F-44E5-AE13-E276D7FA8301}"/>
    <dgm:cxn modelId="{19ED12B3-ECB2-4B0D-BDC6-1CF23F37D3B7}" type="presOf" srcId="{54D3DF8B-1104-452F-B027-40818EAE3D72}" destId="{53113DA0-BABA-46F0-B668-20452E777865}" srcOrd="0" destOrd="0" presId="urn:microsoft.com/office/officeart/2018/2/layout/IconVerticalSolidList"/>
    <dgm:cxn modelId="{28B92ADC-B21C-41EF-8DFC-9C14F0623CBD}" type="presOf" srcId="{3537638E-86FE-4D01-A5E5-EC197E5E8703}" destId="{88C9BF28-CB84-4A9B-A535-98CF2438AED8}" srcOrd="0" destOrd="0" presId="urn:microsoft.com/office/officeart/2018/2/layout/IconVerticalSolidList"/>
    <dgm:cxn modelId="{54F83BDE-C10D-4F10-9B5D-298BCB150F94}" type="presOf" srcId="{DA5AB540-92CD-446D-8445-9D70890CEC66}" destId="{9F7C21BE-8EAB-4AE5-AFD3-73D84979E427}" srcOrd="0" destOrd="0" presId="urn:microsoft.com/office/officeart/2018/2/layout/IconVerticalSolidList"/>
    <dgm:cxn modelId="{6D9F53EC-BAB9-4455-9D83-31DF9307192E}" srcId="{BC968504-B06D-4A45-B639-24DC676C8D5D}" destId="{3537638E-86FE-4D01-A5E5-EC197E5E8703}" srcOrd="4" destOrd="0" parTransId="{76A35036-F77C-43A6-B179-C76DCFF772FF}" sibTransId="{25CBF658-B96A-455C-BD13-3FDA4F46C214}"/>
    <dgm:cxn modelId="{7B2993F0-1AD3-4042-BA2A-93A14348B0D6}" type="presOf" srcId="{E8107FF5-C2A5-428A-A2EA-DAED324EC390}" destId="{EB8FAAD6-EDCE-414D-A214-39334ACD634E}" srcOrd="0" destOrd="0" presId="urn:microsoft.com/office/officeart/2018/2/layout/IconVerticalSolidList"/>
    <dgm:cxn modelId="{C09EBEE3-5C6A-4A9E-9F87-DFB2F76F9250}" type="presParOf" srcId="{CF812927-A0F7-4913-AD75-336591FC1F53}" destId="{0FD24A1D-D8BC-4974-88BE-9A8E6D81BEAC}" srcOrd="0" destOrd="0" presId="urn:microsoft.com/office/officeart/2018/2/layout/IconVerticalSolidList"/>
    <dgm:cxn modelId="{DA06AC38-BB04-4368-A3CB-51DA98A69025}" type="presParOf" srcId="{0FD24A1D-D8BC-4974-88BE-9A8E6D81BEAC}" destId="{8F18575E-A8B6-46B6-8AC8-7E623CBC7DDD}" srcOrd="0" destOrd="0" presId="urn:microsoft.com/office/officeart/2018/2/layout/IconVerticalSolidList"/>
    <dgm:cxn modelId="{11F3D0CD-22B6-4507-9C53-ABF45257B4CA}" type="presParOf" srcId="{0FD24A1D-D8BC-4974-88BE-9A8E6D81BEAC}" destId="{E9E6CF20-20F0-4787-9D1C-3FEA48ED53C9}" srcOrd="1" destOrd="0" presId="urn:microsoft.com/office/officeart/2018/2/layout/IconVerticalSolidList"/>
    <dgm:cxn modelId="{3F1FA4B3-4CF8-44AB-BD41-7AC43FABC4C7}" type="presParOf" srcId="{0FD24A1D-D8BC-4974-88BE-9A8E6D81BEAC}" destId="{DC6427A4-1983-4B95-9461-C6CCE3A21710}" srcOrd="2" destOrd="0" presId="urn:microsoft.com/office/officeart/2018/2/layout/IconVerticalSolidList"/>
    <dgm:cxn modelId="{B2C8ED24-3D08-453D-9FDC-B8849557EAB0}" type="presParOf" srcId="{0FD24A1D-D8BC-4974-88BE-9A8E6D81BEAC}" destId="{EB8FAAD6-EDCE-414D-A214-39334ACD634E}" srcOrd="3" destOrd="0" presId="urn:microsoft.com/office/officeart/2018/2/layout/IconVerticalSolidList"/>
    <dgm:cxn modelId="{243F2ABB-89E0-4E65-914D-B88F0C368A48}" type="presParOf" srcId="{CF812927-A0F7-4913-AD75-336591FC1F53}" destId="{A5ECC21F-C4CF-4816-A3A8-3E9EB09288ED}" srcOrd="1" destOrd="0" presId="urn:microsoft.com/office/officeart/2018/2/layout/IconVerticalSolidList"/>
    <dgm:cxn modelId="{616B53AA-C23E-404B-ABCD-54B920AD08A1}" type="presParOf" srcId="{CF812927-A0F7-4913-AD75-336591FC1F53}" destId="{6E04FF97-357A-45B6-834E-1EADF60CD847}" srcOrd="2" destOrd="0" presId="urn:microsoft.com/office/officeart/2018/2/layout/IconVerticalSolidList"/>
    <dgm:cxn modelId="{7BD8D865-F5AA-46A1-B750-F860CF118C19}" type="presParOf" srcId="{6E04FF97-357A-45B6-834E-1EADF60CD847}" destId="{4166A1FD-DC73-42B2-8F49-A30EAB33E42A}" srcOrd="0" destOrd="0" presId="urn:microsoft.com/office/officeart/2018/2/layout/IconVerticalSolidList"/>
    <dgm:cxn modelId="{C4AD7511-AD47-4BC4-9D58-C3627AE437AD}" type="presParOf" srcId="{6E04FF97-357A-45B6-834E-1EADF60CD847}" destId="{4D8DC002-4C82-4C22-91CB-EF1C1761BC6B}" srcOrd="1" destOrd="0" presId="urn:microsoft.com/office/officeart/2018/2/layout/IconVerticalSolidList"/>
    <dgm:cxn modelId="{7F0523B2-FF94-4C77-A0F7-F5BDABBF18FB}" type="presParOf" srcId="{6E04FF97-357A-45B6-834E-1EADF60CD847}" destId="{3B47FB3F-490B-4C4E-A770-12AFA2F7100C}" srcOrd="2" destOrd="0" presId="urn:microsoft.com/office/officeart/2018/2/layout/IconVerticalSolidList"/>
    <dgm:cxn modelId="{A07E4E14-7BC3-48CB-986A-85529577D6FF}" type="presParOf" srcId="{6E04FF97-357A-45B6-834E-1EADF60CD847}" destId="{53113DA0-BABA-46F0-B668-20452E777865}" srcOrd="3" destOrd="0" presId="urn:microsoft.com/office/officeart/2018/2/layout/IconVerticalSolidList"/>
    <dgm:cxn modelId="{75FBBAA9-A5B4-4637-8B5B-E52D08640AEC}" type="presParOf" srcId="{CF812927-A0F7-4913-AD75-336591FC1F53}" destId="{EA4B6A24-FCA5-4823-952C-483C512A3720}" srcOrd="3" destOrd="0" presId="urn:microsoft.com/office/officeart/2018/2/layout/IconVerticalSolidList"/>
    <dgm:cxn modelId="{F5245D35-DAA1-4345-80B5-81096150B9D2}" type="presParOf" srcId="{CF812927-A0F7-4913-AD75-336591FC1F53}" destId="{73461A4A-C86D-4B29-87B3-0B1F195D9AF1}" srcOrd="4" destOrd="0" presId="urn:microsoft.com/office/officeart/2018/2/layout/IconVerticalSolidList"/>
    <dgm:cxn modelId="{E7242AF3-92F7-42FE-A72F-F6F06AC18BE9}" type="presParOf" srcId="{73461A4A-C86D-4B29-87B3-0B1F195D9AF1}" destId="{03D4A730-DEE3-424A-BB06-7F2B8F773482}" srcOrd="0" destOrd="0" presId="urn:microsoft.com/office/officeart/2018/2/layout/IconVerticalSolidList"/>
    <dgm:cxn modelId="{48A3FEBA-57AC-4FED-992F-7FA9661C5678}" type="presParOf" srcId="{73461A4A-C86D-4B29-87B3-0B1F195D9AF1}" destId="{BB715C97-79EC-4EAB-BD50-FE68D8855EB4}" srcOrd="1" destOrd="0" presId="urn:microsoft.com/office/officeart/2018/2/layout/IconVerticalSolidList"/>
    <dgm:cxn modelId="{0B01CD9D-2D92-4CDB-9A6E-18A8649DC3DF}" type="presParOf" srcId="{73461A4A-C86D-4B29-87B3-0B1F195D9AF1}" destId="{8218F1EE-13EB-4706-B567-2D68BE12FAF0}" srcOrd="2" destOrd="0" presId="urn:microsoft.com/office/officeart/2018/2/layout/IconVerticalSolidList"/>
    <dgm:cxn modelId="{0448F248-FAC7-4E7B-B758-1204439E3605}" type="presParOf" srcId="{73461A4A-C86D-4B29-87B3-0B1F195D9AF1}" destId="{2444352F-AA71-4F60-B091-B08677C86267}" srcOrd="3" destOrd="0" presId="urn:microsoft.com/office/officeart/2018/2/layout/IconVerticalSolidList"/>
    <dgm:cxn modelId="{30A505D5-C64D-4201-BF4D-02FDAC1607C7}" type="presParOf" srcId="{CF812927-A0F7-4913-AD75-336591FC1F53}" destId="{8796B696-1D1A-4102-B09F-61B44C533638}" srcOrd="5" destOrd="0" presId="urn:microsoft.com/office/officeart/2018/2/layout/IconVerticalSolidList"/>
    <dgm:cxn modelId="{B7099774-1D1A-499D-A454-4D736FCD73CD}" type="presParOf" srcId="{CF812927-A0F7-4913-AD75-336591FC1F53}" destId="{A78B0F3E-062D-44EB-BBFC-84A39AE12E6B}" srcOrd="6" destOrd="0" presId="urn:microsoft.com/office/officeart/2018/2/layout/IconVerticalSolidList"/>
    <dgm:cxn modelId="{295C887D-C599-41BC-986B-A2A878891C64}" type="presParOf" srcId="{A78B0F3E-062D-44EB-BBFC-84A39AE12E6B}" destId="{6793CAE1-7C4C-49F2-AC47-1000B9D8E4FC}" srcOrd="0" destOrd="0" presId="urn:microsoft.com/office/officeart/2018/2/layout/IconVerticalSolidList"/>
    <dgm:cxn modelId="{A868D99B-3FC0-4CBF-AC34-2F3B6300150B}" type="presParOf" srcId="{A78B0F3E-062D-44EB-BBFC-84A39AE12E6B}" destId="{3246BCFA-C03F-4E50-9050-40266D285D7C}" srcOrd="1" destOrd="0" presId="urn:microsoft.com/office/officeart/2018/2/layout/IconVerticalSolidList"/>
    <dgm:cxn modelId="{09FF5D19-B692-4EC2-A6EF-3AECEB565223}" type="presParOf" srcId="{A78B0F3E-062D-44EB-BBFC-84A39AE12E6B}" destId="{9486959C-1351-4B7D-AF28-3256FA7FF6FA}" srcOrd="2" destOrd="0" presId="urn:microsoft.com/office/officeart/2018/2/layout/IconVerticalSolidList"/>
    <dgm:cxn modelId="{D2702F65-7910-4C9B-AD5B-95C5B470A36B}" type="presParOf" srcId="{A78B0F3E-062D-44EB-BBFC-84A39AE12E6B}" destId="{9F7C21BE-8EAB-4AE5-AFD3-73D84979E427}" srcOrd="3" destOrd="0" presId="urn:microsoft.com/office/officeart/2018/2/layout/IconVerticalSolidList"/>
    <dgm:cxn modelId="{D7336436-530C-41A6-AA41-D354EADED0B1}" type="presParOf" srcId="{CF812927-A0F7-4913-AD75-336591FC1F53}" destId="{C24FC323-FDE8-4BE4-93F0-B92F02D10CBB}" srcOrd="7" destOrd="0" presId="urn:microsoft.com/office/officeart/2018/2/layout/IconVerticalSolidList"/>
    <dgm:cxn modelId="{8E9AF141-B315-4A96-9EB2-E58E9E776C17}" type="presParOf" srcId="{CF812927-A0F7-4913-AD75-336591FC1F53}" destId="{318AA766-B9FB-4D43-B997-3FCEFD9969E3}" srcOrd="8" destOrd="0" presId="urn:microsoft.com/office/officeart/2018/2/layout/IconVerticalSolidList"/>
    <dgm:cxn modelId="{7F33F5DC-5752-4AF8-82A5-48EDA05A130C}" type="presParOf" srcId="{318AA766-B9FB-4D43-B997-3FCEFD9969E3}" destId="{08F2B3D2-57A5-4307-9D7A-802EBF35F37B}" srcOrd="0" destOrd="0" presId="urn:microsoft.com/office/officeart/2018/2/layout/IconVerticalSolidList"/>
    <dgm:cxn modelId="{0C5F0B51-C1AF-4DBC-ACBB-4D73DCE09627}" type="presParOf" srcId="{318AA766-B9FB-4D43-B997-3FCEFD9969E3}" destId="{D74D65CE-2870-44D5-B8D1-BF714EF634DE}" srcOrd="1" destOrd="0" presId="urn:microsoft.com/office/officeart/2018/2/layout/IconVerticalSolidList"/>
    <dgm:cxn modelId="{9B44699F-D5DF-4E52-911C-56C6331E2464}" type="presParOf" srcId="{318AA766-B9FB-4D43-B997-3FCEFD9969E3}" destId="{DB9A2697-9EB2-458F-99FE-5B396B1CC231}" srcOrd="2" destOrd="0" presId="urn:microsoft.com/office/officeart/2018/2/layout/IconVerticalSolidList"/>
    <dgm:cxn modelId="{50920922-75FC-4565-A2C6-DA454553BDAE}" type="presParOf" srcId="{318AA766-B9FB-4D43-B997-3FCEFD9969E3}" destId="{88C9BF28-CB84-4A9B-A535-98CF2438AED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F34E4CC-092F-4CEF-AF0A-69B75F8B9B37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0B562B5-7B6A-D748-9A2C-54EE52DDEAC2}">
      <dgm:prSet/>
      <dgm:spPr/>
      <dgm:t>
        <a:bodyPr/>
        <a:lstStyle/>
        <a:p>
          <a:r>
            <a:rPr lang="en-US" b="1" dirty="0"/>
            <a:t>Datasets</a:t>
          </a:r>
        </a:p>
      </dgm:t>
    </dgm:pt>
    <dgm:pt modelId="{547AA4C1-D08A-D347-BE65-637476465B98}" type="parTrans" cxnId="{9D62CD1D-1F6E-544B-8078-AD64457C3D20}">
      <dgm:prSet/>
      <dgm:spPr/>
      <dgm:t>
        <a:bodyPr/>
        <a:lstStyle/>
        <a:p>
          <a:endParaRPr lang="en-US"/>
        </a:p>
      </dgm:t>
    </dgm:pt>
    <dgm:pt modelId="{94CCAD92-32D9-E347-A75C-E0FF83718585}" type="sibTrans" cxnId="{9D62CD1D-1F6E-544B-8078-AD64457C3D20}">
      <dgm:prSet/>
      <dgm:spPr/>
      <dgm:t>
        <a:bodyPr/>
        <a:lstStyle/>
        <a:p>
          <a:endParaRPr lang="en-US"/>
        </a:p>
      </dgm:t>
    </dgm:pt>
    <dgm:pt modelId="{AFD33AF3-172C-3C40-A031-9AD01AD10E3B}">
      <dgm:prSet/>
      <dgm:spPr/>
      <dgm:t>
        <a:bodyPr/>
        <a:lstStyle/>
        <a:p>
          <a:r>
            <a:rPr lang="en-US" b="1" dirty="0"/>
            <a:t>Data Quality Assurance</a:t>
          </a:r>
        </a:p>
      </dgm:t>
    </dgm:pt>
    <dgm:pt modelId="{E5BC708D-B5FD-A141-B540-DC99DDCD21EC}" type="parTrans" cxnId="{272A1745-8A00-0A4F-9D41-9983C361C53D}">
      <dgm:prSet/>
      <dgm:spPr/>
      <dgm:t>
        <a:bodyPr/>
        <a:lstStyle/>
        <a:p>
          <a:endParaRPr lang="en-US"/>
        </a:p>
      </dgm:t>
    </dgm:pt>
    <dgm:pt modelId="{D2EF24F2-A334-7F45-86C6-1608A2970D85}" type="sibTrans" cxnId="{272A1745-8A00-0A4F-9D41-9983C361C53D}">
      <dgm:prSet/>
      <dgm:spPr/>
      <dgm:t>
        <a:bodyPr/>
        <a:lstStyle/>
        <a:p>
          <a:endParaRPr lang="en-US"/>
        </a:p>
      </dgm:t>
    </dgm:pt>
    <dgm:pt modelId="{DE4F7D5D-2245-4448-A163-E3A568139AC1}">
      <dgm:prSet/>
      <dgm:spPr/>
      <dgm:t>
        <a:bodyPr/>
        <a:lstStyle/>
        <a:p>
          <a:r>
            <a:rPr lang="en-US" b="1" dirty="0"/>
            <a:t>Data Filtering and Restrictions</a:t>
          </a:r>
        </a:p>
      </dgm:t>
    </dgm:pt>
    <dgm:pt modelId="{B4FA435B-FF97-C142-BEBF-8BA741583EE5}" type="parTrans" cxnId="{E65CF1EE-921A-B245-8304-9470B0C50F50}">
      <dgm:prSet/>
      <dgm:spPr/>
      <dgm:t>
        <a:bodyPr/>
        <a:lstStyle/>
        <a:p>
          <a:endParaRPr lang="en-US"/>
        </a:p>
      </dgm:t>
    </dgm:pt>
    <dgm:pt modelId="{2ED8DFB3-3677-A546-9F25-7302BA2F9BC1}" type="sibTrans" cxnId="{E65CF1EE-921A-B245-8304-9470B0C50F50}">
      <dgm:prSet/>
      <dgm:spPr/>
      <dgm:t>
        <a:bodyPr/>
        <a:lstStyle/>
        <a:p>
          <a:endParaRPr lang="en-US"/>
        </a:p>
      </dgm:t>
    </dgm:pt>
    <dgm:pt modelId="{0E87E755-BFA1-C04E-80E7-66DA21A5AB3B}">
      <dgm:prSet/>
      <dgm:spPr/>
      <dgm:t>
        <a:bodyPr/>
        <a:lstStyle/>
        <a:p>
          <a:r>
            <a:rPr lang="en-US" b="1" dirty="0"/>
            <a:t>Limitations</a:t>
          </a:r>
        </a:p>
      </dgm:t>
    </dgm:pt>
    <dgm:pt modelId="{8F9B48DF-5F22-F44A-8172-001535CD6593}" type="parTrans" cxnId="{BBEFF820-EF1E-AA49-846E-88CA5419FC39}">
      <dgm:prSet/>
      <dgm:spPr/>
      <dgm:t>
        <a:bodyPr/>
        <a:lstStyle/>
        <a:p>
          <a:endParaRPr lang="en-US"/>
        </a:p>
      </dgm:t>
    </dgm:pt>
    <dgm:pt modelId="{5C78DA84-DA49-194E-BC02-ECEA2FF2AF38}" type="sibTrans" cxnId="{BBEFF820-EF1E-AA49-846E-88CA5419FC39}">
      <dgm:prSet/>
      <dgm:spPr/>
      <dgm:t>
        <a:bodyPr/>
        <a:lstStyle/>
        <a:p>
          <a:endParaRPr lang="en-US"/>
        </a:p>
      </dgm:t>
    </dgm:pt>
    <dgm:pt modelId="{286A5E56-41AD-C34B-BE8A-6D2D4FBA700A}">
      <dgm:prSet/>
      <dgm:spPr/>
      <dgm:t>
        <a:bodyPr/>
        <a:lstStyle/>
        <a:p>
          <a:r>
            <a:rPr lang="en-US" b="1" dirty="0"/>
            <a:t>Flights, Tickets, Airport Codes</a:t>
          </a:r>
          <a:r>
            <a:rPr lang="en-US" dirty="0"/>
            <a:t>: Key datasets analyzed for insights into operational and market dynamics.</a:t>
          </a:r>
          <a:endParaRPr lang="en-US" b="1" dirty="0"/>
        </a:p>
      </dgm:t>
    </dgm:pt>
    <dgm:pt modelId="{5EEE73ED-291F-844D-9BD4-948DD41F1802}" type="parTrans" cxnId="{C860B4A5-2CDA-FD4D-80DE-BB64A07C4FC9}">
      <dgm:prSet/>
      <dgm:spPr/>
      <dgm:t>
        <a:bodyPr/>
        <a:lstStyle/>
        <a:p>
          <a:endParaRPr lang="en-US"/>
        </a:p>
      </dgm:t>
    </dgm:pt>
    <dgm:pt modelId="{6332AAC5-FE7F-6A45-822C-39278613898D}" type="sibTrans" cxnId="{C860B4A5-2CDA-FD4D-80DE-BB64A07C4FC9}">
      <dgm:prSet/>
      <dgm:spPr/>
      <dgm:t>
        <a:bodyPr/>
        <a:lstStyle/>
        <a:p>
          <a:endParaRPr lang="en-US"/>
        </a:p>
      </dgm:t>
    </dgm:pt>
    <dgm:pt modelId="{A29F03E5-1449-584E-8D03-27B4CE242E8A}">
      <dgm:prSet/>
      <dgm:spPr/>
      <dgm:t>
        <a:bodyPr/>
        <a:lstStyle/>
        <a:p>
          <a:r>
            <a:rPr lang="en-US" b="1" dirty="0"/>
            <a:t>Validation</a:t>
          </a:r>
          <a:r>
            <a:rPr lang="en-US" dirty="0"/>
            <a:t>: Ensured all columns contain intended values, addressing discrepancies promptly.</a:t>
          </a:r>
          <a:endParaRPr lang="en-US" b="1" dirty="0"/>
        </a:p>
      </dgm:t>
    </dgm:pt>
    <dgm:pt modelId="{3E0A81DA-43AA-0449-BB96-F41A593ECF98}" type="parTrans" cxnId="{C54DF778-F7DB-A444-9DA5-E29908D0C141}">
      <dgm:prSet/>
      <dgm:spPr/>
      <dgm:t>
        <a:bodyPr/>
        <a:lstStyle/>
        <a:p>
          <a:endParaRPr lang="en-US"/>
        </a:p>
      </dgm:t>
    </dgm:pt>
    <dgm:pt modelId="{0E39B024-DD29-2642-999E-FD4CB8E6C2DC}" type="sibTrans" cxnId="{C54DF778-F7DB-A444-9DA5-E29908D0C141}">
      <dgm:prSet/>
      <dgm:spPr/>
      <dgm:t>
        <a:bodyPr/>
        <a:lstStyle/>
        <a:p>
          <a:endParaRPr lang="en-US"/>
        </a:p>
      </dgm:t>
    </dgm:pt>
    <dgm:pt modelId="{07C50443-573D-054D-8493-7C4288DCAE54}">
      <dgm:prSet/>
      <dgm:spPr/>
      <dgm:t>
        <a:bodyPr/>
        <a:lstStyle/>
        <a:p>
          <a:r>
            <a:rPr lang="en-US" b="1" dirty="0"/>
            <a:t>Formatting</a:t>
          </a:r>
          <a:r>
            <a:rPr lang="en-US" dirty="0"/>
            <a:t>: Corrected data types to align with analytical requirements.</a:t>
          </a:r>
          <a:endParaRPr lang="en-US" b="1" dirty="0"/>
        </a:p>
      </dgm:t>
    </dgm:pt>
    <dgm:pt modelId="{752D8267-9F4C-2C4D-95D0-9D3ABD6F4B5E}" type="parTrans" cxnId="{CF82DE0C-7B1A-C64A-92D6-013782A2D312}">
      <dgm:prSet/>
      <dgm:spPr/>
      <dgm:t>
        <a:bodyPr/>
        <a:lstStyle/>
        <a:p>
          <a:endParaRPr lang="en-US"/>
        </a:p>
      </dgm:t>
    </dgm:pt>
    <dgm:pt modelId="{7581D2BC-68D8-AF4B-8965-7805DB6743E8}" type="sibTrans" cxnId="{CF82DE0C-7B1A-C64A-92D6-013782A2D312}">
      <dgm:prSet/>
      <dgm:spPr/>
      <dgm:t>
        <a:bodyPr/>
        <a:lstStyle/>
        <a:p>
          <a:endParaRPr lang="en-US"/>
        </a:p>
      </dgm:t>
    </dgm:pt>
    <dgm:pt modelId="{16A3B6D6-1F53-4C4F-8C67-4FB8D4559C7F}">
      <dgm:prSet/>
      <dgm:spPr/>
      <dgm:t>
        <a:bodyPr/>
        <a:lstStyle/>
        <a:p>
          <a:r>
            <a:rPr lang="en-US" b="1" dirty="0"/>
            <a:t>Outliers</a:t>
          </a:r>
          <a:r>
            <a:rPr lang="en-US" dirty="0"/>
            <a:t>: Retained outliers for comprehensive analysis of operational performance and anomalies.</a:t>
          </a:r>
          <a:endParaRPr lang="en-US" b="1" dirty="0"/>
        </a:p>
      </dgm:t>
    </dgm:pt>
    <dgm:pt modelId="{1F92516F-89FF-7244-9C2C-A2BE46D71299}" type="parTrans" cxnId="{386DD0A6-32C9-044E-BFA2-AE8BBBAB2F25}">
      <dgm:prSet/>
      <dgm:spPr/>
      <dgm:t>
        <a:bodyPr/>
        <a:lstStyle/>
        <a:p>
          <a:endParaRPr lang="en-US"/>
        </a:p>
      </dgm:t>
    </dgm:pt>
    <dgm:pt modelId="{398C8F96-E143-444C-B54E-2B762236D58D}" type="sibTrans" cxnId="{386DD0A6-32C9-044E-BFA2-AE8BBBAB2F25}">
      <dgm:prSet/>
      <dgm:spPr/>
      <dgm:t>
        <a:bodyPr/>
        <a:lstStyle/>
        <a:p>
          <a:endParaRPr lang="en-US"/>
        </a:p>
      </dgm:t>
    </dgm:pt>
    <dgm:pt modelId="{3F7E6E7C-B62F-6D4D-85DD-0E60013CC6F7}">
      <dgm:prSet/>
      <dgm:spPr/>
      <dgm:t>
        <a:bodyPr/>
        <a:lstStyle/>
        <a:p>
          <a:r>
            <a:rPr lang="en-US" b="1" dirty="0"/>
            <a:t>Missing Values</a:t>
          </a:r>
          <a:r>
            <a:rPr lang="en-US" dirty="0"/>
            <a:t>: Applied robust imputation strategies, using medians for numeric columns to maintain dataset integrity.</a:t>
          </a:r>
          <a:endParaRPr lang="en-US" b="1" dirty="0"/>
        </a:p>
      </dgm:t>
    </dgm:pt>
    <dgm:pt modelId="{2A655CBA-EB82-9E4D-A277-A76C7DDC032D}" type="parTrans" cxnId="{BF02AB57-AD48-C645-92FD-3EE6799BCF0C}">
      <dgm:prSet/>
      <dgm:spPr/>
      <dgm:t>
        <a:bodyPr/>
        <a:lstStyle/>
        <a:p>
          <a:endParaRPr lang="en-US"/>
        </a:p>
      </dgm:t>
    </dgm:pt>
    <dgm:pt modelId="{F7CA1048-B5C2-2E45-8DBE-A5AE68E79AC5}" type="sibTrans" cxnId="{BF02AB57-AD48-C645-92FD-3EE6799BCF0C}">
      <dgm:prSet/>
      <dgm:spPr/>
      <dgm:t>
        <a:bodyPr/>
        <a:lstStyle/>
        <a:p>
          <a:endParaRPr lang="en-US"/>
        </a:p>
      </dgm:t>
    </dgm:pt>
    <dgm:pt modelId="{44029AC4-EE57-E743-A35F-F87E93901721}">
      <dgm:prSet/>
      <dgm:spPr/>
      <dgm:t>
        <a:bodyPr/>
        <a:lstStyle/>
        <a:p>
          <a:r>
            <a:rPr lang="en-US" b="1" dirty="0"/>
            <a:t>Data Integrity</a:t>
          </a:r>
          <a:r>
            <a:rPr lang="en-US" dirty="0"/>
            <a:t>: Removed invalid strings, ensuring datasets consist only of valid airport codes.</a:t>
          </a:r>
          <a:endParaRPr lang="en-US" b="1" dirty="0"/>
        </a:p>
      </dgm:t>
    </dgm:pt>
    <dgm:pt modelId="{76701AE8-8F59-EB47-9611-6F2298DD23A1}" type="parTrans" cxnId="{F1A2E532-7B82-A949-BC71-9C1FE8B03857}">
      <dgm:prSet/>
      <dgm:spPr/>
      <dgm:t>
        <a:bodyPr/>
        <a:lstStyle/>
        <a:p>
          <a:endParaRPr lang="en-US"/>
        </a:p>
      </dgm:t>
    </dgm:pt>
    <dgm:pt modelId="{DE133DB0-29EC-EB46-A309-887171932B8E}" type="sibTrans" cxnId="{F1A2E532-7B82-A949-BC71-9C1FE8B03857}">
      <dgm:prSet/>
      <dgm:spPr/>
      <dgm:t>
        <a:bodyPr/>
        <a:lstStyle/>
        <a:p>
          <a:endParaRPr lang="en-US"/>
        </a:p>
      </dgm:t>
    </dgm:pt>
    <dgm:pt modelId="{FE7D7DBD-478C-5D46-9D74-930764F12DC9}">
      <dgm:prSet/>
      <dgm:spPr/>
      <dgm:t>
        <a:bodyPr/>
        <a:lstStyle/>
        <a:p>
          <a:r>
            <a:rPr lang="en-US" b="1" dirty="0"/>
            <a:t>Duplicates</a:t>
          </a:r>
          <a:r>
            <a:rPr lang="en-US" dirty="0"/>
            <a:t>: Eliminated duplicate entries across all columns to prevent data redundancy and ensure accuracy.</a:t>
          </a:r>
          <a:endParaRPr lang="en-US" b="1" dirty="0"/>
        </a:p>
      </dgm:t>
    </dgm:pt>
    <dgm:pt modelId="{D41A7FF4-73CB-B446-93A9-8207E9F1F62E}" type="parTrans" cxnId="{FA78E3D2-0049-8749-801A-724A429F8ED3}">
      <dgm:prSet/>
      <dgm:spPr/>
      <dgm:t>
        <a:bodyPr/>
        <a:lstStyle/>
        <a:p>
          <a:endParaRPr lang="en-US"/>
        </a:p>
      </dgm:t>
    </dgm:pt>
    <dgm:pt modelId="{9CDDA698-1F15-424E-B832-265A4EFB798F}" type="sibTrans" cxnId="{FA78E3D2-0049-8749-801A-724A429F8ED3}">
      <dgm:prSet/>
      <dgm:spPr/>
      <dgm:t>
        <a:bodyPr/>
        <a:lstStyle/>
        <a:p>
          <a:endParaRPr lang="en-US"/>
        </a:p>
      </dgm:t>
    </dgm:pt>
    <dgm:pt modelId="{16AA1A09-0BEF-A049-8FD8-CF9781EE6E96}">
      <dgm:prSet/>
      <dgm:spPr/>
      <dgm:t>
        <a:bodyPr/>
        <a:lstStyle/>
        <a:p>
          <a:r>
            <a:rPr lang="en-US" b="1" dirty="0"/>
            <a:t>Focused Analysis</a:t>
          </a:r>
          <a:r>
            <a:rPr lang="en-US" dirty="0"/>
            <a:t>: Filtered out cancelled flights, non-round trips, and non-US airports to tailor analysis to the US domestic market.</a:t>
          </a:r>
          <a:endParaRPr lang="en-US" b="1" dirty="0"/>
        </a:p>
      </dgm:t>
    </dgm:pt>
    <dgm:pt modelId="{3D61E42E-BFEC-064A-B05A-E7FC47962689}" type="parTrans" cxnId="{A3C34737-A9B8-F742-94B2-75A5547E0105}">
      <dgm:prSet/>
      <dgm:spPr/>
      <dgm:t>
        <a:bodyPr/>
        <a:lstStyle/>
        <a:p>
          <a:endParaRPr lang="en-US"/>
        </a:p>
      </dgm:t>
    </dgm:pt>
    <dgm:pt modelId="{EA2DC019-BF38-EC47-9BFD-57212A432474}" type="sibTrans" cxnId="{A3C34737-A9B8-F742-94B2-75A5547E0105}">
      <dgm:prSet/>
      <dgm:spPr/>
      <dgm:t>
        <a:bodyPr/>
        <a:lstStyle/>
        <a:p>
          <a:endParaRPr lang="en-US"/>
        </a:p>
      </dgm:t>
    </dgm:pt>
    <dgm:pt modelId="{84B40579-7BAB-2C46-9314-843EB16864EC}">
      <dgm:prSet/>
      <dgm:spPr/>
      <dgm:t>
        <a:bodyPr/>
        <a:lstStyle/>
        <a:p>
          <a:r>
            <a:rPr lang="en-US" b="1" dirty="0"/>
            <a:t>Data Linkage</a:t>
          </a:r>
          <a:r>
            <a:rPr lang="en-US" dirty="0"/>
            <a:t>: Acknowledged challenges in linking tickets to their corresponding flights due to inherent data limitations, potentially impacting comprehensive analysis and insights.</a:t>
          </a:r>
          <a:endParaRPr lang="en-US" b="1" dirty="0"/>
        </a:p>
      </dgm:t>
    </dgm:pt>
    <dgm:pt modelId="{2B2CB159-F997-434D-9BB2-2C6FF262374A}" type="parTrans" cxnId="{9DE636E2-1EDB-1747-A114-197280F7B80F}">
      <dgm:prSet/>
      <dgm:spPr/>
      <dgm:t>
        <a:bodyPr/>
        <a:lstStyle/>
        <a:p>
          <a:endParaRPr lang="en-US"/>
        </a:p>
      </dgm:t>
    </dgm:pt>
    <dgm:pt modelId="{7393A40C-D546-CA48-B6B6-23B2C5D3037D}" type="sibTrans" cxnId="{9DE636E2-1EDB-1747-A114-197280F7B80F}">
      <dgm:prSet/>
      <dgm:spPr/>
      <dgm:t>
        <a:bodyPr/>
        <a:lstStyle/>
        <a:p>
          <a:endParaRPr lang="en-US"/>
        </a:p>
      </dgm:t>
    </dgm:pt>
    <dgm:pt modelId="{4AC1A6A7-76F7-4C6C-B1F3-5E363EBE04E8}" type="pres">
      <dgm:prSet presAssocID="{DF34E4CC-092F-4CEF-AF0A-69B75F8B9B37}" presName="linear" presStyleCnt="0">
        <dgm:presLayoutVars>
          <dgm:dir/>
          <dgm:animLvl val="lvl"/>
          <dgm:resizeHandles val="exact"/>
        </dgm:presLayoutVars>
      </dgm:prSet>
      <dgm:spPr/>
    </dgm:pt>
    <dgm:pt modelId="{043A23C4-ADD4-411B-AC87-B027D1E7EC22}" type="pres">
      <dgm:prSet presAssocID="{20B562B5-7B6A-D748-9A2C-54EE52DDEAC2}" presName="parentLin" presStyleCnt="0"/>
      <dgm:spPr/>
    </dgm:pt>
    <dgm:pt modelId="{F4099210-98B0-4F08-8E6D-E798DB65000A}" type="pres">
      <dgm:prSet presAssocID="{20B562B5-7B6A-D748-9A2C-54EE52DDEAC2}" presName="parentLeftMargin" presStyleLbl="node1" presStyleIdx="0" presStyleCnt="4"/>
      <dgm:spPr/>
    </dgm:pt>
    <dgm:pt modelId="{BAE1F031-CBE8-4B91-A582-EA74171691A5}" type="pres">
      <dgm:prSet presAssocID="{20B562B5-7B6A-D748-9A2C-54EE52DDEAC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D3D27FE-F6C6-4AAA-83C8-E2334640724A}" type="pres">
      <dgm:prSet presAssocID="{20B562B5-7B6A-D748-9A2C-54EE52DDEAC2}" presName="negativeSpace" presStyleCnt="0"/>
      <dgm:spPr/>
    </dgm:pt>
    <dgm:pt modelId="{378BC71B-7D26-4348-A6E1-48692B66F5D6}" type="pres">
      <dgm:prSet presAssocID="{20B562B5-7B6A-D748-9A2C-54EE52DDEAC2}" presName="childText" presStyleLbl="conFgAcc1" presStyleIdx="0" presStyleCnt="4">
        <dgm:presLayoutVars>
          <dgm:bulletEnabled val="1"/>
        </dgm:presLayoutVars>
      </dgm:prSet>
      <dgm:spPr/>
    </dgm:pt>
    <dgm:pt modelId="{37ADAC43-94E2-4343-B0D0-0AEF2B303009}" type="pres">
      <dgm:prSet presAssocID="{94CCAD92-32D9-E347-A75C-E0FF83718585}" presName="spaceBetweenRectangles" presStyleCnt="0"/>
      <dgm:spPr/>
    </dgm:pt>
    <dgm:pt modelId="{16614C4E-7E14-42FB-BE58-D3563F78654F}" type="pres">
      <dgm:prSet presAssocID="{AFD33AF3-172C-3C40-A031-9AD01AD10E3B}" presName="parentLin" presStyleCnt="0"/>
      <dgm:spPr/>
    </dgm:pt>
    <dgm:pt modelId="{A1B555F1-CBF7-4219-8617-C4789EBB8641}" type="pres">
      <dgm:prSet presAssocID="{AFD33AF3-172C-3C40-A031-9AD01AD10E3B}" presName="parentLeftMargin" presStyleLbl="node1" presStyleIdx="0" presStyleCnt="4"/>
      <dgm:spPr/>
    </dgm:pt>
    <dgm:pt modelId="{20AE4317-7E6F-4766-B727-7B8DA3399CEC}" type="pres">
      <dgm:prSet presAssocID="{AFD33AF3-172C-3C40-A031-9AD01AD10E3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D96FD19-88BB-4138-BEB8-CF477C59BA47}" type="pres">
      <dgm:prSet presAssocID="{AFD33AF3-172C-3C40-A031-9AD01AD10E3B}" presName="negativeSpace" presStyleCnt="0"/>
      <dgm:spPr/>
    </dgm:pt>
    <dgm:pt modelId="{EE0C1988-81B7-40C2-A8FF-DFBB2AD5F3B0}" type="pres">
      <dgm:prSet presAssocID="{AFD33AF3-172C-3C40-A031-9AD01AD10E3B}" presName="childText" presStyleLbl="conFgAcc1" presStyleIdx="1" presStyleCnt="4">
        <dgm:presLayoutVars>
          <dgm:bulletEnabled val="1"/>
        </dgm:presLayoutVars>
      </dgm:prSet>
      <dgm:spPr/>
    </dgm:pt>
    <dgm:pt modelId="{24FDFC1D-E434-447B-9202-B0CDA5789E0D}" type="pres">
      <dgm:prSet presAssocID="{D2EF24F2-A334-7F45-86C6-1608A2970D85}" presName="spaceBetweenRectangles" presStyleCnt="0"/>
      <dgm:spPr/>
    </dgm:pt>
    <dgm:pt modelId="{7A62CC13-0F3F-46B3-BEB2-E65B521E1AEA}" type="pres">
      <dgm:prSet presAssocID="{DE4F7D5D-2245-4448-A163-E3A568139AC1}" presName="parentLin" presStyleCnt="0"/>
      <dgm:spPr/>
    </dgm:pt>
    <dgm:pt modelId="{787BD2C6-A12C-40BA-BE78-57B45C8E5B61}" type="pres">
      <dgm:prSet presAssocID="{DE4F7D5D-2245-4448-A163-E3A568139AC1}" presName="parentLeftMargin" presStyleLbl="node1" presStyleIdx="1" presStyleCnt="4"/>
      <dgm:spPr/>
    </dgm:pt>
    <dgm:pt modelId="{782E6C92-E50A-484A-B677-5283E380EB78}" type="pres">
      <dgm:prSet presAssocID="{DE4F7D5D-2245-4448-A163-E3A568139AC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943A3A2-139B-4140-BDD3-8315CF21EBBC}" type="pres">
      <dgm:prSet presAssocID="{DE4F7D5D-2245-4448-A163-E3A568139AC1}" presName="negativeSpace" presStyleCnt="0"/>
      <dgm:spPr/>
    </dgm:pt>
    <dgm:pt modelId="{AF22D4FE-D8B5-40BE-960A-920E93189693}" type="pres">
      <dgm:prSet presAssocID="{DE4F7D5D-2245-4448-A163-E3A568139AC1}" presName="childText" presStyleLbl="conFgAcc1" presStyleIdx="2" presStyleCnt="4">
        <dgm:presLayoutVars>
          <dgm:bulletEnabled val="1"/>
        </dgm:presLayoutVars>
      </dgm:prSet>
      <dgm:spPr/>
    </dgm:pt>
    <dgm:pt modelId="{464C488F-BF81-436D-8438-24DC03046AB6}" type="pres">
      <dgm:prSet presAssocID="{2ED8DFB3-3677-A546-9F25-7302BA2F9BC1}" presName="spaceBetweenRectangles" presStyleCnt="0"/>
      <dgm:spPr/>
    </dgm:pt>
    <dgm:pt modelId="{BFA783D3-D864-4F47-ADFC-99EB40BB34E9}" type="pres">
      <dgm:prSet presAssocID="{0E87E755-BFA1-C04E-80E7-66DA21A5AB3B}" presName="parentLin" presStyleCnt="0"/>
      <dgm:spPr/>
    </dgm:pt>
    <dgm:pt modelId="{BB673455-32D2-4A91-B1DD-353A539344A1}" type="pres">
      <dgm:prSet presAssocID="{0E87E755-BFA1-C04E-80E7-66DA21A5AB3B}" presName="parentLeftMargin" presStyleLbl="node1" presStyleIdx="2" presStyleCnt="4"/>
      <dgm:spPr/>
    </dgm:pt>
    <dgm:pt modelId="{48570D0C-0F48-4E13-AC3B-8F2BC1CADDC0}" type="pres">
      <dgm:prSet presAssocID="{0E87E755-BFA1-C04E-80E7-66DA21A5AB3B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AF313E49-987C-496E-9B31-916F31928D19}" type="pres">
      <dgm:prSet presAssocID="{0E87E755-BFA1-C04E-80E7-66DA21A5AB3B}" presName="negativeSpace" presStyleCnt="0"/>
      <dgm:spPr/>
    </dgm:pt>
    <dgm:pt modelId="{560E872B-153A-4F7F-B47A-7C82053BCC0D}" type="pres">
      <dgm:prSet presAssocID="{0E87E755-BFA1-C04E-80E7-66DA21A5AB3B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CF82DE0C-7B1A-C64A-92D6-013782A2D312}" srcId="{AFD33AF3-172C-3C40-A031-9AD01AD10E3B}" destId="{07C50443-573D-054D-8493-7C4288DCAE54}" srcOrd="1" destOrd="0" parTransId="{752D8267-9F4C-2C4D-95D0-9D3ABD6F4B5E}" sibTransId="{7581D2BC-68D8-AF4B-8965-7805DB6743E8}"/>
    <dgm:cxn modelId="{5809CC0D-CAC5-4152-AC51-A4E098BB306C}" type="presOf" srcId="{16A3B6D6-1F53-4C4F-8C67-4FB8D4559C7F}" destId="{EE0C1988-81B7-40C2-A8FF-DFBB2AD5F3B0}" srcOrd="0" destOrd="2" presId="urn:microsoft.com/office/officeart/2005/8/layout/list1"/>
    <dgm:cxn modelId="{9D62CD1D-1F6E-544B-8078-AD64457C3D20}" srcId="{DF34E4CC-092F-4CEF-AF0A-69B75F8B9B37}" destId="{20B562B5-7B6A-D748-9A2C-54EE52DDEAC2}" srcOrd="0" destOrd="0" parTransId="{547AA4C1-D08A-D347-BE65-637476465B98}" sibTransId="{94CCAD92-32D9-E347-A75C-E0FF83718585}"/>
    <dgm:cxn modelId="{BBEFF820-EF1E-AA49-846E-88CA5419FC39}" srcId="{DF34E4CC-092F-4CEF-AF0A-69B75F8B9B37}" destId="{0E87E755-BFA1-C04E-80E7-66DA21A5AB3B}" srcOrd="3" destOrd="0" parTransId="{8F9B48DF-5F22-F44A-8172-001535CD6593}" sibTransId="{5C78DA84-DA49-194E-BC02-ECEA2FF2AF38}"/>
    <dgm:cxn modelId="{CC458B2A-78E1-4759-AC20-BE1FF4F2FF51}" type="presOf" srcId="{FE7D7DBD-478C-5D46-9D74-930764F12DC9}" destId="{EE0C1988-81B7-40C2-A8FF-DFBB2AD5F3B0}" srcOrd="0" destOrd="5" presId="urn:microsoft.com/office/officeart/2005/8/layout/list1"/>
    <dgm:cxn modelId="{790D912C-428A-456B-9A0A-B02FEBE39C17}" type="presOf" srcId="{286A5E56-41AD-C34B-BE8A-6D2D4FBA700A}" destId="{378BC71B-7D26-4348-A6E1-48692B66F5D6}" srcOrd="0" destOrd="0" presId="urn:microsoft.com/office/officeart/2005/8/layout/list1"/>
    <dgm:cxn modelId="{F1A2E532-7B82-A949-BC71-9C1FE8B03857}" srcId="{AFD33AF3-172C-3C40-A031-9AD01AD10E3B}" destId="{44029AC4-EE57-E743-A35F-F87E93901721}" srcOrd="4" destOrd="0" parTransId="{76701AE8-8F59-EB47-9611-6F2298DD23A1}" sibTransId="{DE133DB0-29EC-EB46-A309-887171932B8E}"/>
    <dgm:cxn modelId="{A3C34737-A9B8-F742-94B2-75A5547E0105}" srcId="{DE4F7D5D-2245-4448-A163-E3A568139AC1}" destId="{16AA1A09-0BEF-A049-8FD8-CF9781EE6E96}" srcOrd="0" destOrd="0" parTransId="{3D61E42E-BFEC-064A-B05A-E7FC47962689}" sibTransId="{EA2DC019-BF38-EC47-9BFD-57212A432474}"/>
    <dgm:cxn modelId="{272A1745-8A00-0A4F-9D41-9983C361C53D}" srcId="{DF34E4CC-092F-4CEF-AF0A-69B75F8B9B37}" destId="{AFD33AF3-172C-3C40-A031-9AD01AD10E3B}" srcOrd="1" destOrd="0" parTransId="{E5BC708D-B5FD-A141-B540-DC99DDCD21EC}" sibTransId="{D2EF24F2-A334-7F45-86C6-1608A2970D85}"/>
    <dgm:cxn modelId="{2BC82E6F-A07F-4BB5-B426-30A3764CA2B2}" type="presOf" srcId="{AFD33AF3-172C-3C40-A031-9AD01AD10E3B}" destId="{A1B555F1-CBF7-4219-8617-C4789EBB8641}" srcOrd="0" destOrd="0" presId="urn:microsoft.com/office/officeart/2005/8/layout/list1"/>
    <dgm:cxn modelId="{2927C973-6A34-414B-8F36-6D7883FDD55B}" type="presOf" srcId="{16AA1A09-0BEF-A049-8FD8-CF9781EE6E96}" destId="{AF22D4FE-D8B5-40BE-960A-920E93189693}" srcOrd="0" destOrd="0" presId="urn:microsoft.com/office/officeart/2005/8/layout/list1"/>
    <dgm:cxn modelId="{BF02AB57-AD48-C645-92FD-3EE6799BCF0C}" srcId="{AFD33AF3-172C-3C40-A031-9AD01AD10E3B}" destId="{3F7E6E7C-B62F-6D4D-85DD-0E60013CC6F7}" srcOrd="3" destOrd="0" parTransId="{2A655CBA-EB82-9E4D-A277-A76C7DDC032D}" sibTransId="{F7CA1048-B5C2-2E45-8DBE-A5AE68E79AC5}"/>
    <dgm:cxn modelId="{A2102958-86D8-4438-852B-FB5D78E79DC0}" type="presOf" srcId="{44029AC4-EE57-E743-A35F-F87E93901721}" destId="{EE0C1988-81B7-40C2-A8FF-DFBB2AD5F3B0}" srcOrd="0" destOrd="4" presId="urn:microsoft.com/office/officeart/2005/8/layout/list1"/>
    <dgm:cxn modelId="{C54DF778-F7DB-A444-9DA5-E29908D0C141}" srcId="{AFD33AF3-172C-3C40-A031-9AD01AD10E3B}" destId="{A29F03E5-1449-584E-8D03-27B4CE242E8A}" srcOrd="0" destOrd="0" parTransId="{3E0A81DA-43AA-0449-BB96-F41A593ECF98}" sibTransId="{0E39B024-DD29-2642-999E-FD4CB8E6C2DC}"/>
    <dgm:cxn modelId="{BF25CE7F-2299-46BD-B43B-B079A089E221}" type="presOf" srcId="{20B562B5-7B6A-D748-9A2C-54EE52DDEAC2}" destId="{BAE1F031-CBE8-4B91-A582-EA74171691A5}" srcOrd="1" destOrd="0" presId="urn:microsoft.com/office/officeart/2005/8/layout/list1"/>
    <dgm:cxn modelId="{1ACE1F80-B9C8-4441-8653-66ED05B1EE62}" type="presOf" srcId="{A29F03E5-1449-584E-8D03-27B4CE242E8A}" destId="{EE0C1988-81B7-40C2-A8FF-DFBB2AD5F3B0}" srcOrd="0" destOrd="0" presId="urn:microsoft.com/office/officeart/2005/8/layout/list1"/>
    <dgm:cxn modelId="{E2A08981-202B-403E-A73C-98E4A766DEF9}" type="presOf" srcId="{0E87E755-BFA1-C04E-80E7-66DA21A5AB3B}" destId="{48570D0C-0F48-4E13-AC3B-8F2BC1CADDC0}" srcOrd="1" destOrd="0" presId="urn:microsoft.com/office/officeart/2005/8/layout/list1"/>
    <dgm:cxn modelId="{C860B4A5-2CDA-FD4D-80DE-BB64A07C4FC9}" srcId="{20B562B5-7B6A-D748-9A2C-54EE52DDEAC2}" destId="{286A5E56-41AD-C34B-BE8A-6D2D4FBA700A}" srcOrd="0" destOrd="0" parTransId="{5EEE73ED-291F-844D-9BD4-948DD41F1802}" sibTransId="{6332AAC5-FE7F-6A45-822C-39278613898D}"/>
    <dgm:cxn modelId="{386DD0A6-32C9-044E-BFA2-AE8BBBAB2F25}" srcId="{AFD33AF3-172C-3C40-A031-9AD01AD10E3B}" destId="{16A3B6D6-1F53-4C4F-8C67-4FB8D4559C7F}" srcOrd="2" destOrd="0" parTransId="{1F92516F-89FF-7244-9C2C-A2BE46D71299}" sibTransId="{398C8F96-E143-444C-B54E-2B762236D58D}"/>
    <dgm:cxn modelId="{FD8C41AD-41E8-44CB-A354-D42DE6A2ABC2}" type="presOf" srcId="{20B562B5-7B6A-D748-9A2C-54EE52DDEAC2}" destId="{F4099210-98B0-4F08-8E6D-E798DB65000A}" srcOrd="0" destOrd="0" presId="urn:microsoft.com/office/officeart/2005/8/layout/list1"/>
    <dgm:cxn modelId="{EAEAA0AD-7D36-4E99-9947-38FD39DE03E7}" type="presOf" srcId="{AFD33AF3-172C-3C40-A031-9AD01AD10E3B}" destId="{20AE4317-7E6F-4766-B727-7B8DA3399CEC}" srcOrd="1" destOrd="0" presId="urn:microsoft.com/office/officeart/2005/8/layout/list1"/>
    <dgm:cxn modelId="{5C242ECD-4E4E-4350-8FE3-4CA595707542}" type="presOf" srcId="{84B40579-7BAB-2C46-9314-843EB16864EC}" destId="{560E872B-153A-4F7F-B47A-7C82053BCC0D}" srcOrd="0" destOrd="0" presId="urn:microsoft.com/office/officeart/2005/8/layout/list1"/>
    <dgm:cxn modelId="{631D73D1-8DAF-4EBD-92C9-1221CA40F024}" type="presOf" srcId="{3F7E6E7C-B62F-6D4D-85DD-0E60013CC6F7}" destId="{EE0C1988-81B7-40C2-A8FF-DFBB2AD5F3B0}" srcOrd="0" destOrd="3" presId="urn:microsoft.com/office/officeart/2005/8/layout/list1"/>
    <dgm:cxn modelId="{FA78E3D2-0049-8749-801A-724A429F8ED3}" srcId="{AFD33AF3-172C-3C40-A031-9AD01AD10E3B}" destId="{FE7D7DBD-478C-5D46-9D74-930764F12DC9}" srcOrd="5" destOrd="0" parTransId="{D41A7FF4-73CB-B446-93A9-8207E9F1F62E}" sibTransId="{9CDDA698-1F15-424E-B832-265A4EFB798F}"/>
    <dgm:cxn modelId="{A78A7CDC-138D-4A01-8393-61C7CA2934C2}" type="presOf" srcId="{07C50443-573D-054D-8493-7C4288DCAE54}" destId="{EE0C1988-81B7-40C2-A8FF-DFBB2AD5F3B0}" srcOrd="0" destOrd="1" presId="urn:microsoft.com/office/officeart/2005/8/layout/list1"/>
    <dgm:cxn modelId="{9DE636E2-1EDB-1747-A114-197280F7B80F}" srcId="{0E87E755-BFA1-C04E-80E7-66DA21A5AB3B}" destId="{84B40579-7BAB-2C46-9314-843EB16864EC}" srcOrd="0" destOrd="0" parTransId="{2B2CB159-F997-434D-9BB2-2C6FF262374A}" sibTransId="{7393A40C-D546-CA48-B6B6-23B2C5D3037D}"/>
    <dgm:cxn modelId="{AD55ADE2-906C-4EA4-B99E-4CC9C14F16FA}" type="presOf" srcId="{DE4F7D5D-2245-4448-A163-E3A568139AC1}" destId="{787BD2C6-A12C-40BA-BE78-57B45C8E5B61}" srcOrd="0" destOrd="0" presId="urn:microsoft.com/office/officeart/2005/8/layout/list1"/>
    <dgm:cxn modelId="{EA9DFEE3-637B-4C7B-B803-380746678432}" type="presOf" srcId="{DF34E4CC-092F-4CEF-AF0A-69B75F8B9B37}" destId="{4AC1A6A7-76F7-4C6C-B1F3-5E363EBE04E8}" srcOrd="0" destOrd="0" presId="urn:microsoft.com/office/officeart/2005/8/layout/list1"/>
    <dgm:cxn modelId="{C6E05FE6-8C06-4C79-976F-6BE5C47AAF78}" type="presOf" srcId="{DE4F7D5D-2245-4448-A163-E3A568139AC1}" destId="{782E6C92-E50A-484A-B677-5283E380EB78}" srcOrd="1" destOrd="0" presId="urn:microsoft.com/office/officeart/2005/8/layout/list1"/>
    <dgm:cxn modelId="{E65CF1EE-921A-B245-8304-9470B0C50F50}" srcId="{DF34E4CC-092F-4CEF-AF0A-69B75F8B9B37}" destId="{DE4F7D5D-2245-4448-A163-E3A568139AC1}" srcOrd="2" destOrd="0" parTransId="{B4FA435B-FF97-C142-BEBF-8BA741583EE5}" sibTransId="{2ED8DFB3-3677-A546-9F25-7302BA2F9BC1}"/>
    <dgm:cxn modelId="{D58D78FE-7B95-47AF-82A8-0BA3430B8363}" type="presOf" srcId="{0E87E755-BFA1-C04E-80E7-66DA21A5AB3B}" destId="{BB673455-32D2-4A91-B1DD-353A539344A1}" srcOrd="0" destOrd="0" presId="urn:microsoft.com/office/officeart/2005/8/layout/list1"/>
    <dgm:cxn modelId="{CB0B59AC-1EA6-4CFC-A0D6-4E3BB353C1B4}" type="presParOf" srcId="{4AC1A6A7-76F7-4C6C-B1F3-5E363EBE04E8}" destId="{043A23C4-ADD4-411B-AC87-B027D1E7EC22}" srcOrd="0" destOrd="0" presId="urn:microsoft.com/office/officeart/2005/8/layout/list1"/>
    <dgm:cxn modelId="{DDE48CDB-550F-4DB7-A511-3A957D9AA076}" type="presParOf" srcId="{043A23C4-ADD4-411B-AC87-B027D1E7EC22}" destId="{F4099210-98B0-4F08-8E6D-E798DB65000A}" srcOrd="0" destOrd="0" presId="urn:microsoft.com/office/officeart/2005/8/layout/list1"/>
    <dgm:cxn modelId="{5A14F6D1-6CD1-4689-A2E4-D761982EE63A}" type="presParOf" srcId="{043A23C4-ADD4-411B-AC87-B027D1E7EC22}" destId="{BAE1F031-CBE8-4B91-A582-EA74171691A5}" srcOrd="1" destOrd="0" presId="urn:microsoft.com/office/officeart/2005/8/layout/list1"/>
    <dgm:cxn modelId="{AB1DA19E-A4BC-46A1-BA48-8E465D64BFAE}" type="presParOf" srcId="{4AC1A6A7-76F7-4C6C-B1F3-5E363EBE04E8}" destId="{DD3D27FE-F6C6-4AAA-83C8-E2334640724A}" srcOrd="1" destOrd="0" presId="urn:microsoft.com/office/officeart/2005/8/layout/list1"/>
    <dgm:cxn modelId="{EFD0FCF8-C684-47EE-B275-CE1F1F16D6BC}" type="presParOf" srcId="{4AC1A6A7-76F7-4C6C-B1F3-5E363EBE04E8}" destId="{378BC71B-7D26-4348-A6E1-48692B66F5D6}" srcOrd="2" destOrd="0" presId="urn:microsoft.com/office/officeart/2005/8/layout/list1"/>
    <dgm:cxn modelId="{949E54D2-A112-4ACB-9219-2DC3716BF3D9}" type="presParOf" srcId="{4AC1A6A7-76F7-4C6C-B1F3-5E363EBE04E8}" destId="{37ADAC43-94E2-4343-B0D0-0AEF2B303009}" srcOrd="3" destOrd="0" presId="urn:microsoft.com/office/officeart/2005/8/layout/list1"/>
    <dgm:cxn modelId="{FCEA23CF-0226-425D-AA14-0A00B7876B23}" type="presParOf" srcId="{4AC1A6A7-76F7-4C6C-B1F3-5E363EBE04E8}" destId="{16614C4E-7E14-42FB-BE58-D3563F78654F}" srcOrd="4" destOrd="0" presId="urn:microsoft.com/office/officeart/2005/8/layout/list1"/>
    <dgm:cxn modelId="{8BD53F1F-E834-4938-964F-66E50ADDEF65}" type="presParOf" srcId="{16614C4E-7E14-42FB-BE58-D3563F78654F}" destId="{A1B555F1-CBF7-4219-8617-C4789EBB8641}" srcOrd="0" destOrd="0" presId="urn:microsoft.com/office/officeart/2005/8/layout/list1"/>
    <dgm:cxn modelId="{06788DD5-6B10-4E21-B7D3-5B943DBB5AF6}" type="presParOf" srcId="{16614C4E-7E14-42FB-BE58-D3563F78654F}" destId="{20AE4317-7E6F-4766-B727-7B8DA3399CEC}" srcOrd="1" destOrd="0" presId="urn:microsoft.com/office/officeart/2005/8/layout/list1"/>
    <dgm:cxn modelId="{C837D963-B34B-437C-A1D4-D2DDBC00CA89}" type="presParOf" srcId="{4AC1A6A7-76F7-4C6C-B1F3-5E363EBE04E8}" destId="{2D96FD19-88BB-4138-BEB8-CF477C59BA47}" srcOrd="5" destOrd="0" presId="urn:microsoft.com/office/officeart/2005/8/layout/list1"/>
    <dgm:cxn modelId="{10729F1A-38D1-4F50-8ADA-8639FB85B47E}" type="presParOf" srcId="{4AC1A6A7-76F7-4C6C-B1F3-5E363EBE04E8}" destId="{EE0C1988-81B7-40C2-A8FF-DFBB2AD5F3B0}" srcOrd="6" destOrd="0" presId="urn:microsoft.com/office/officeart/2005/8/layout/list1"/>
    <dgm:cxn modelId="{74BC100A-C2CC-4DEE-A1DC-C29F8E307298}" type="presParOf" srcId="{4AC1A6A7-76F7-4C6C-B1F3-5E363EBE04E8}" destId="{24FDFC1D-E434-447B-9202-B0CDA5789E0D}" srcOrd="7" destOrd="0" presId="urn:microsoft.com/office/officeart/2005/8/layout/list1"/>
    <dgm:cxn modelId="{32194A93-EB5F-4AB3-999F-9D8C25CD5EF8}" type="presParOf" srcId="{4AC1A6A7-76F7-4C6C-B1F3-5E363EBE04E8}" destId="{7A62CC13-0F3F-46B3-BEB2-E65B521E1AEA}" srcOrd="8" destOrd="0" presId="urn:microsoft.com/office/officeart/2005/8/layout/list1"/>
    <dgm:cxn modelId="{61CC6D44-F5E6-4597-BE5F-CBCF4CDAF5FD}" type="presParOf" srcId="{7A62CC13-0F3F-46B3-BEB2-E65B521E1AEA}" destId="{787BD2C6-A12C-40BA-BE78-57B45C8E5B61}" srcOrd="0" destOrd="0" presId="urn:microsoft.com/office/officeart/2005/8/layout/list1"/>
    <dgm:cxn modelId="{9461219B-0609-446F-A561-50F140389607}" type="presParOf" srcId="{7A62CC13-0F3F-46B3-BEB2-E65B521E1AEA}" destId="{782E6C92-E50A-484A-B677-5283E380EB78}" srcOrd="1" destOrd="0" presId="urn:microsoft.com/office/officeart/2005/8/layout/list1"/>
    <dgm:cxn modelId="{8D3A3822-D58B-4CD1-9AF7-83C93D4AAF19}" type="presParOf" srcId="{4AC1A6A7-76F7-4C6C-B1F3-5E363EBE04E8}" destId="{2943A3A2-139B-4140-BDD3-8315CF21EBBC}" srcOrd="9" destOrd="0" presId="urn:microsoft.com/office/officeart/2005/8/layout/list1"/>
    <dgm:cxn modelId="{307D9CCD-4668-4FD1-938B-21390F73C61B}" type="presParOf" srcId="{4AC1A6A7-76F7-4C6C-B1F3-5E363EBE04E8}" destId="{AF22D4FE-D8B5-40BE-960A-920E93189693}" srcOrd="10" destOrd="0" presId="urn:microsoft.com/office/officeart/2005/8/layout/list1"/>
    <dgm:cxn modelId="{5194938E-33AA-4483-AD8D-2981924667D0}" type="presParOf" srcId="{4AC1A6A7-76F7-4C6C-B1F3-5E363EBE04E8}" destId="{464C488F-BF81-436D-8438-24DC03046AB6}" srcOrd="11" destOrd="0" presId="urn:microsoft.com/office/officeart/2005/8/layout/list1"/>
    <dgm:cxn modelId="{CD1399D1-D71D-4E67-8FB0-FBD967E2045D}" type="presParOf" srcId="{4AC1A6A7-76F7-4C6C-B1F3-5E363EBE04E8}" destId="{BFA783D3-D864-4F47-ADFC-99EB40BB34E9}" srcOrd="12" destOrd="0" presId="urn:microsoft.com/office/officeart/2005/8/layout/list1"/>
    <dgm:cxn modelId="{9F9E0FC3-04ED-4576-BF47-3E3248D9A70D}" type="presParOf" srcId="{BFA783D3-D864-4F47-ADFC-99EB40BB34E9}" destId="{BB673455-32D2-4A91-B1DD-353A539344A1}" srcOrd="0" destOrd="0" presId="urn:microsoft.com/office/officeart/2005/8/layout/list1"/>
    <dgm:cxn modelId="{36859771-6480-478F-B56D-86C70E0BF72B}" type="presParOf" srcId="{BFA783D3-D864-4F47-ADFC-99EB40BB34E9}" destId="{48570D0C-0F48-4E13-AC3B-8F2BC1CADDC0}" srcOrd="1" destOrd="0" presId="urn:microsoft.com/office/officeart/2005/8/layout/list1"/>
    <dgm:cxn modelId="{1E9F2B5B-C589-4230-B84B-7ACD6AA6A454}" type="presParOf" srcId="{4AC1A6A7-76F7-4C6C-B1F3-5E363EBE04E8}" destId="{AF313E49-987C-496E-9B31-916F31928D19}" srcOrd="13" destOrd="0" presId="urn:microsoft.com/office/officeart/2005/8/layout/list1"/>
    <dgm:cxn modelId="{7017DF37-CD14-4446-A4FE-A81869A4DD0A}" type="presParOf" srcId="{4AC1A6A7-76F7-4C6C-B1F3-5E363EBE04E8}" destId="{560E872B-153A-4F7F-B47A-7C82053BCC0D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18575E-A8B6-46B6-8AC8-7E623CBC7DDD}">
      <dsp:nvSpPr>
        <dsp:cNvPr id="0" name=""/>
        <dsp:cNvSpPr/>
      </dsp:nvSpPr>
      <dsp:spPr>
        <a:xfrm>
          <a:off x="0" y="7900"/>
          <a:ext cx="8306857" cy="9464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E6CF20-20F0-4787-9D1C-3FEA48ED53C9}">
      <dsp:nvSpPr>
        <dsp:cNvPr id="0" name=""/>
        <dsp:cNvSpPr/>
      </dsp:nvSpPr>
      <dsp:spPr>
        <a:xfrm>
          <a:off x="286302" y="220853"/>
          <a:ext cx="521059" cy="5205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8FAAD6-EDCE-414D-A214-39334ACD634E}">
      <dsp:nvSpPr>
        <dsp:cNvPr id="0" name=""/>
        <dsp:cNvSpPr/>
      </dsp:nvSpPr>
      <dsp:spPr>
        <a:xfrm>
          <a:off x="1093665" y="7900"/>
          <a:ext cx="7163782" cy="1035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7" tIns="109557" rIns="109557" bIns="10955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The 10 busiest round-trip routes in terms of number of round-trip flights in the quarter. Exclude canceled flights when performing the calculation.</a:t>
          </a:r>
        </a:p>
      </dsp:txBody>
      <dsp:txXfrm>
        <a:off x="1093665" y="7900"/>
        <a:ext cx="7163782" cy="1035186"/>
      </dsp:txXfrm>
    </dsp:sp>
    <dsp:sp modelId="{4166A1FD-DC73-42B2-8F49-A30EAB33E42A}">
      <dsp:nvSpPr>
        <dsp:cNvPr id="0" name=""/>
        <dsp:cNvSpPr/>
      </dsp:nvSpPr>
      <dsp:spPr>
        <a:xfrm>
          <a:off x="0" y="1301883"/>
          <a:ext cx="8306857" cy="9464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8DC002-4C82-4C22-91CB-EF1C1761BC6B}">
      <dsp:nvSpPr>
        <dsp:cNvPr id="0" name=""/>
        <dsp:cNvSpPr/>
      </dsp:nvSpPr>
      <dsp:spPr>
        <a:xfrm>
          <a:off x="286302" y="1514836"/>
          <a:ext cx="521059" cy="5205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113DA0-BABA-46F0-B668-20452E777865}">
      <dsp:nvSpPr>
        <dsp:cNvPr id="0" name=""/>
        <dsp:cNvSpPr/>
      </dsp:nvSpPr>
      <dsp:spPr>
        <a:xfrm>
          <a:off x="1093665" y="1301883"/>
          <a:ext cx="7163782" cy="1035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7" tIns="109557" rIns="109557" bIns="10955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The 10 most profitable round-trip routes (without considering the upfront airplane cost) in the quarter. Along with the profit, show total revenue, total cost, summary values of other key components and total round-trip flights in the quarter for the top 10 most profitable routes. Exclude canceled flights from these calculations.​</a:t>
          </a:r>
        </a:p>
      </dsp:txBody>
      <dsp:txXfrm>
        <a:off x="1093665" y="1301883"/>
        <a:ext cx="7163782" cy="1035186"/>
      </dsp:txXfrm>
    </dsp:sp>
    <dsp:sp modelId="{03D4A730-DEE3-424A-BB06-7F2B8F773482}">
      <dsp:nvSpPr>
        <dsp:cNvPr id="0" name=""/>
        <dsp:cNvSpPr/>
      </dsp:nvSpPr>
      <dsp:spPr>
        <a:xfrm>
          <a:off x="0" y="2595866"/>
          <a:ext cx="8306857" cy="9464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715C97-79EC-4EAB-BD50-FE68D8855EB4}">
      <dsp:nvSpPr>
        <dsp:cNvPr id="0" name=""/>
        <dsp:cNvSpPr/>
      </dsp:nvSpPr>
      <dsp:spPr>
        <a:xfrm>
          <a:off x="286302" y="2808818"/>
          <a:ext cx="521059" cy="5205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44352F-AA71-4F60-B091-B08677C86267}">
      <dsp:nvSpPr>
        <dsp:cNvPr id="0" name=""/>
        <dsp:cNvSpPr/>
      </dsp:nvSpPr>
      <dsp:spPr>
        <a:xfrm>
          <a:off x="1093665" y="2595866"/>
          <a:ext cx="7163782" cy="1035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7" tIns="109557" rIns="109557" bIns="10955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The 5 round trip routes that you recommend to invest in based on any factors that you choose.​</a:t>
          </a:r>
        </a:p>
      </dsp:txBody>
      <dsp:txXfrm>
        <a:off x="1093665" y="2595866"/>
        <a:ext cx="7163782" cy="1035186"/>
      </dsp:txXfrm>
    </dsp:sp>
    <dsp:sp modelId="{6793CAE1-7C4C-49F2-AC47-1000B9D8E4FC}">
      <dsp:nvSpPr>
        <dsp:cNvPr id="0" name=""/>
        <dsp:cNvSpPr/>
      </dsp:nvSpPr>
      <dsp:spPr>
        <a:xfrm>
          <a:off x="0" y="3889849"/>
          <a:ext cx="8306857" cy="9464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46BCFA-C03F-4E50-9050-40266D285D7C}">
      <dsp:nvSpPr>
        <dsp:cNvPr id="0" name=""/>
        <dsp:cNvSpPr/>
      </dsp:nvSpPr>
      <dsp:spPr>
        <a:xfrm>
          <a:off x="286302" y="4102801"/>
          <a:ext cx="521059" cy="5205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7C21BE-8EAB-4AE5-AFD3-73D84979E427}">
      <dsp:nvSpPr>
        <dsp:cNvPr id="0" name=""/>
        <dsp:cNvSpPr/>
      </dsp:nvSpPr>
      <dsp:spPr>
        <a:xfrm>
          <a:off x="1093665" y="3889849"/>
          <a:ext cx="7163782" cy="1035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7" tIns="109557" rIns="109557" bIns="10955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The number of round trip flights it will take to breakeven on the upfront airplane cost for each of the 5 round trip routes that you recommend. Print key summary components for these routes.</a:t>
          </a:r>
        </a:p>
      </dsp:txBody>
      <dsp:txXfrm>
        <a:off x="1093665" y="3889849"/>
        <a:ext cx="7163782" cy="1035186"/>
      </dsp:txXfrm>
    </dsp:sp>
    <dsp:sp modelId="{08F2B3D2-57A5-4307-9D7A-802EBF35F37B}">
      <dsp:nvSpPr>
        <dsp:cNvPr id="0" name=""/>
        <dsp:cNvSpPr/>
      </dsp:nvSpPr>
      <dsp:spPr>
        <a:xfrm>
          <a:off x="0" y="5144506"/>
          <a:ext cx="8306857" cy="9464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4D65CE-2870-44D5-B8D1-BF714EF634DE}">
      <dsp:nvSpPr>
        <dsp:cNvPr id="0" name=""/>
        <dsp:cNvSpPr/>
      </dsp:nvSpPr>
      <dsp:spPr>
        <a:xfrm>
          <a:off x="286302" y="5396784"/>
          <a:ext cx="521059" cy="52055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C9BF28-CB84-4A9B-A535-98CF2438AED8}">
      <dsp:nvSpPr>
        <dsp:cNvPr id="0" name=""/>
        <dsp:cNvSpPr/>
      </dsp:nvSpPr>
      <dsp:spPr>
        <a:xfrm>
          <a:off x="1093665" y="5183832"/>
          <a:ext cx="7163782" cy="1035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7" tIns="109557" rIns="109557" bIns="10955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Key Performance Indicators (KPI’s) that you recommend tracking in the future to measure the success of the round trip routes that you recommend.</a:t>
          </a:r>
        </a:p>
      </dsp:txBody>
      <dsp:txXfrm>
        <a:off x="1093665" y="5183832"/>
        <a:ext cx="7163782" cy="10351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8BC71B-7D26-4348-A6E1-48692B66F5D6}">
      <dsp:nvSpPr>
        <dsp:cNvPr id="0" name=""/>
        <dsp:cNvSpPr/>
      </dsp:nvSpPr>
      <dsp:spPr>
        <a:xfrm>
          <a:off x="0" y="257623"/>
          <a:ext cx="6704267" cy="793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0326" tIns="291592" rIns="520326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Flights, Tickets, Airport Codes</a:t>
          </a:r>
          <a:r>
            <a:rPr lang="en-US" sz="1400" kern="1200" dirty="0"/>
            <a:t>: Key datasets analyzed for insights into operational and market dynamics.</a:t>
          </a:r>
          <a:endParaRPr lang="en-US" sz="1400" b="1" kern="1200" dirty="0"/>
        </a:p>
      </dsp:txBody>
      <dsp:txXfrm>
        <a:off x="0" y="257623"/>
        <a:ext cx="6704267" cy="793800"/>
      </dsp:txXfrm>
    </dsp:sp>
    <dsp:sp modelId="{BAE1F031-CBE8-4B91-A582-EA74171691A5}">
      <dsp:nvSpPr>
        <dsp:cNvPr id="0" name=""/>
        <dsp:cNvSpPr/>
      </dsp:nvSpPr>
      <dsp:spPr>
        <a:xfrm>
          <a:off x="335213" y="50983"/>
          <a:ext cx="4692986" cy="4132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384" tIns="0" rIns="17738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Datasets</a:t>
          </a:r>
        </a:p>
      </dsp:txBody>
      <dsp:txXfrm>
        <a:off x="355388" y="71158"/>
        <a:ext cx="4652636" cy="372930"/>
      </dsp:txXfrm>
    </dsp:sp>
    <dsp:sp modelId="{EE0C1988-81B7-40C2-A8FF-DFBB2AD5F3B0}">
      <dsp:nvSpPr>
        <dsp:cNvPr id="0" name=""/>
        <dsp:cNvSpPr/>
      </dsp:nvSpPr>
      <dsp:spPr>
        <a:xfrm>
          <a:off x="0" y="1333663"/>
          <a:ext cx="6704267" cy="2734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2252848"/>
              <a:satOff val="-5806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0326" tIns="291592" rIns="520326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Validation</a:t>
          </a:r>
          <a:r>
            <a:rPr lang="en-US" sz="1400" kern="1200" dirty="0"/>
            <a:t>: Ensured all columns contain intended values, addressing discrepancies promptly.</a:t>
          </a:r>
          <a:endParaRPr lang="en-US" sz="14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Formatting</a:t>
          </a:r>
          <a:r>
            <a:rPr lang="en-US" sz="1400" kern="1200" dirty="0"/>
            <a:t>: Corrected data types to align with analytical requirements.</a:t>
          </a:r>
          <a:endParaRPr lang="en-US" sz="14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Outliers</a:t>
          </a:r>
          <a:r>
            <a:rPr lang="en-US" sz="1400" kern="1200" dirty="0"/>
            <a:t>: Retained outliers for comprehensive analysis of operational performance and anomalies.</a:t>
          </a:r>
          <a:endParaRPr lang="en-US" sz="14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Missing Values</a:t>
          </a:r>
          <a:r>
            <a:rPr lang="en-US" sz="1400" kern="1200" dirty="0"/>
            <a:t>: Applied robust imputation strategies, using medians for numeric columns to maintain dataset integrity.</a:t>
          </a:r>
          <a:endParaRPr lang="en-US" sz="14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Data Integrity</a:t>
          </a:r>
          <a:r>
            <a:rPr lang="en-US" sz="1400" kern="1200" dirty="0"/>
            <a:t>: Removed invalid strings, ensuring datasets consist only of valid airport codes.</a:t>
          </a:r>
          <a:endParaRPr lang="en-US" sz="14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Duplicates</a:t>
          </a:r>
          <a:r>
            <a:rPr lang="en-US" sz="1400" kern="1200" dirty="0"/>
            <a:t>: Eliminated duplicate entries across all columns to prevent data redundancy and ensure accuracy.</a:t>
          </a:r>
          <a:endParaRPr lang="en-US" sz="1400" b="1" kern="1200" dirty="0"/>
        </a:p>
      </dsp:txBody>
      <dsp:txXfrm>
        <a:off x="0" y="1333663"/>
        <a:ext cx="6704267" cy="2734200"/>
      </dsp:txXfrm>
    </dsp:sp>
    <dsp:sp modelId="{20AE4317-7E6F-4766-B727-7B8DA3399CEC}">
      <dsp:nvSpPr>
        <dsp:cNvPr id="0" name=""/>
        <dsp:cNvSpPr/>
      </dsp:nvSpPr>
      <dsp:spPr>
        <a:xfrm>
          <a:off x="335213" y="1127023"/>
          <a:ext cx="4692986" cy="413280"/>
        </a:xfrm>
        <a:prstGeom prst="roundRect">
          <a:avLst/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384" tIns="0" rIns="17738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Data Quality Assurance</a:t>
          </a:r>
        </a:p>
      </dsp:txBody>
      <dsp:txXfrm>
        <a:off x="355388" y="1147198"/>
        <a:ext cx="4652636" cy="372930"/>
      </dsp:txXfrm>
    </dsp:sp>
    <dsp:sp modelId="{AF22D4FE-D8B5-40BE-960A-920E93189693}">
      <dsp:nvSpPr>
        <dsp:cNvPr id="0" name=""/>
        <dsp:cNvSpPr/>
      </dsp:nvSpPr>
      <dsp:spPr>
        <a:xfrm>
          <a:off x="0" y="4350103"/>
          <a:ext cx="6704267" cy="793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4505695"/>
              <a:satOff val="-11613"/>
              <a:lumOff val="-784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0326" tIns="291592" rIns="520326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Focused Analysis</a:t>
          </a:r>
          <a:r>
            <a:rPr lang="en-US" sz="1400" kern="1200" dirty="0"/>
            <a:t>: Filtered out cancelled flights, non-round trips, and non-US airports to tailor analysis to the US domestic market.</a:t>
          </a:r>
          <a:endParaRPr lang="en-US" sz="1400" b="1" kern="1200" dirty="0"/>
        </a:p>
      </dsp:txBody>
      <dsp:txXfrm>
        <a:off x="0" y="4350103"/>
        <a:ext cx="6704267" cy="793800"/>
      </dsp:txXfrm>
    </dsp:sp>
    <dsp:sp modelId="{782E6C92-E50A-484A-B677-5283E380EB78}">
      <dsp:nvSpPr>
        <dsp:cNvPr id="0" name=""/>
        <dsp:cNvSpPr/>
      </dsp:nvSpPr>
      <dsp:spPr>
        <a:xfrm>
          <a:off x="335213" y="4143463"/>
          <a:ext cx="4692986" cy="413280"/>
        </a:xfrm>
        <a:prstGeom prst="roundRect">
          <a:avLst/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384" tIns="0" rIns="17738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Data Filtering and Restrictions</a:t>
          </a:r>
        </a:p>
      </dsp:txBody>
      <dsp:txXfrm>
        <a:off x="355388" y="4163638"/>
        <a:ext cx="4652636" cy="372930"/>
      </dsp:txXfrm>
    </dsp:sp>
    <dsp:sp modelId="{560E872B-153A-4F7F-B47A-7C82053BCC0D}">
      <dsp:nvSpPr>
        <dsp:cNvPr id="0" name=""/>
        <dsp:cNvSpPr/>
      </dsp:nvSpPr>
      <dsp:spPr>
        <a:xfrm>
          <a:off x="0" y="5426143"/>
          <a:ext cx="6704267" cy="992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0326" tIns="291592" rIns="520326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Data Linkage</a:t>
          </a:r>
          <a:r>
            <a:rPr lang="en-US" sz="1400" kern="1200" dirty="0"/>
            <a:t>: Acknowledged challenges in linking tickets to their corresponding flights due to inherent data limitations, potentially impacting comprehensive analysis and insights.</a:t>
          </a:r>
          <a:endParaRPr lang="en-US" sz="1400" b="1" kern="1200" dirty="0"/>
        </a:p>
      </dsp:txBody>
      <dsp:txXfrm>
        <a:off x="0" y="5426143"/>
        <a:ext cx="6704267" cy="992250"/>
      </dsp:txXfrm>
    </dsp:sp>
    <dsp:sp modelId="{48570D0C-0F48-4E13-AC3B-8F2BC1CADDC0}">
      <dsp:nvSpPr>
        <dsp:cNvPr id="0" name=""/>
        <dsp:cNvSpPr/>
      </dsp:nvSpPr>
      <dsp:spPr>
        <a:xfrm>
          <a:off x="335213" y="5219503"/>
          <a:ext cx="4692986" cy="41328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384" tIns="0" rIns="17738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Limitations</a:t>
          </a:r>
        </a:p>
      </dsp:txBody>
      <dsp:txXfrm>
        <a:off x="355388" y="5239678"/>
        <a:ext cx="4652636" cy="3729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78635-FAC1-3BE6-3F27-A098DAC824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745893-12A2-106A-945F-5582713206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3A5BF-7B85-313F-C4F2-3359D590B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69B61-EDF1-44E0-9D63-C37D529E851E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D4988-7E03-3CDC-014A-1989FCBE4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8F540-D0F3-E939-FE53-EE8F9023D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87E70-3A3B-49CA-AC31-14E77E912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202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7E857-AF50-F8D5-9B51-2F8EA8E90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10CF0-225A-68F4-A00C-CDE4C30D7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A4019-1183-1D2A-DB06-70F51FEDB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69B61-EDF1-44E0-9D63-C37D529E851E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4D34A-9AFE-88FD-A494-C2DCAB172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4EA50-1B6B-0D36-702A-0388EEA9D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87E70-3A3B-49CA-AC31-14E77E912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96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96F6-CA38-CD27-B4A4-E2E02359E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AEBE73-8E96-FCCD-535F-0462A8339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23729-A4A1-8616-43BF-6F5D35598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69B61-EDF1-44E0-9D63-C37D529E851E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C5699-A052-C5F2-FEB7-CCB1370DF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09891-6570-EDD1-2EF7-092F5100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87E70-3A3B-49CA-AC31-14E77E912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854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DE99F-718E-25B2-84A6-3DF4B8D2B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DA2AB-C519-CCE3-321F-D1B87E4E6C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ED2EB9-EF6F-6D7D-A9B2-9180DA5D95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45E570-34A3-D9C2-05E3-4DF29FB3D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69B61-EDF1-44E0-9D63-C37D529E851E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6DEAB6-9F3D-A61F-D2EE-38EEFBDBB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BE7467-588A-DF6E-0991-613288C36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87E70-3A3B-49CA-AC31-14E77E912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807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FB9FC-D43D-D04D-27A6-9A8238BE3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53781-5181-1DCD-1EC8-8ADB07948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611FB-8E93-767C-7D4D-9B37FAE76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91438B-B5EE-6B35-6830-2E133E50A4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42FB6E-7765-80E2-19F5-4E6495FBF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19B189-2701-F198-3720-1C381BC2B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69B61-EDF1-44E0-9D63-C37D529E851E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67D975-E1D4-23AE-4AE4-7788392BA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6E78EE-71AA-1173-AC7A-E85E9F9D8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87E70-3A3B-49CA-AC31-14E77E912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261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39941-5E87-FDED-46A2-1DE994989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803B12-BAFA-AAFC-644C-09E827CAB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69B61-EDF1-44E0-9D63-C37D529E851E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21C45B-E7A7-4002-C807-D8ABE4349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2F0DC6-64F2-3C63-429B-1A8C83FA2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87E70-3A3B-49CA-AC31-14E77E912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551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A02CF3-92D0-1E68-D371-AF52B81D5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69B61-EDF1-44E0-9D63-C37D529E851E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6AB51C-982D-4821-74D3-39D869D1E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BD8A4-901B-A6D8-F510-98833DBC9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87E70-3A3B-49CA-AC31-14E77E912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097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A6C1B-D4DB-2E22-FE18-6BA048C6E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EB8F0-5F49-AAB6-1F9D-1E2D02953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A96942-5042-BA76-8E93-38533B7709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4A063C-D22D-1563-BAE3-0D069433D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69B61-EDF1-44E0-9D63-C37D529E851E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378A5C-E590-192F-6302-4A25DC73D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713281-A227-E0B6-DF06-0ADBE6212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87E70-3A3B-49CA-AC31-14E77E912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324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CBFC1-AD4F-9961-BC31-E85B8A670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FF1826-93AA-E808-F32F-FFFDC4CFF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A9FB3D-CBDC-BFA3-6D90-9DC7390319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F7AE0B-3D9E-0342-3058-71C1488E1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69B61-EDF1-44E0-9D63-C37D529E851E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07FBFD-69BE-2A4C-8E3D-0D10E4D6B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93342-63CF-9383-FDED-0396E8EA8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87E70-3A3B-49CA-AC31-14E77E912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203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5ECDF-FDC3-FF24-3949-BB9CCB05C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691A98-0606-E15A-0DD8-B64F9FE764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A178A-030F-31B8-2026-BD9437D89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69B61-EDF1-44E0-9D63-C37D529E851E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E638E-F931-0A12-71C0-1DEE03206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C39EE-0C89-45F0-2D37-A7D6A3FC0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87E70-3A3B-49CA-AC31-14E77E912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296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F91884-826C-FDBF-F223-D57B862CAD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DD077E-C498-5169-BB67-15206ECDDF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06102-BF2D-65AD-F236-F03ACE03C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69B61-EDF1-44E0-9D63-C37D529E851E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3A83E-4F4C-DE86-8504-FC75AD945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33AED-EA50-CF69-FBF8-C0735F041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87E70-3A3B-49CA-AC31-14E77E912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946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5E4BD5-045F-0F76-22A5-FC3544ECE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1083F-9B4E-7746-EF16-A77248D85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83667-E0D7-BC1B-1F6B-8B11BDF206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E69B61-EDF1-44E0-9D63-C37D529E851E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281A8-5D86-F4E6-74CD-48469D4962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D279F-1146-48E5-0F1F-8262B1C85C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87E70-3A3B-49CA-AC31-14E77E912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862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F90786E-B72D-4C32-BDCE-A170B0078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46F2E7-848F-4A6C-A098-4764FDEA7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Close up of a control panel of an aeroplane flying at night">
            <a:extLst>
              <a:ext uri="{FF2B5EF4-FFF2-40B4-BE49-F238E27FC236}">
                <a16:creationId xmlns:a16="http://schemas.microsoft.com/office/drawing/2014/main" id="{81739E66-C83B-758F-7FB2-2153EE52DF2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0895" b="4836"/>
          <a:stretch>
            <a:fillRect/>
          </a:stretch>
        </p:blipFill>
        <p:spPr>
          <a:xfrm>
            <a:off x="-13448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1695BA-C7F8-83A0-F0C8-C60661340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76052"/>
            <a:ext cx="5155261" cy="151710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i="1">
                <a:solidFill>
                  <a:srgbClr val="FFFFFF"/>
                </a:solidFill>
              </a:rPr>
              <a:t>Capital One Air | Project Elevate</a:t>
            </a:r>
            <a:endParaRPr lang="en-US" b="1">
              <a:solidFill>
                <a:srgbClr val="FFFFFF"/>
              </a:solidFill>
            </a:endParaRPr>
          </a:p>
          <a:p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E2216E-9FC9-F043-28F5-D541E8D2100A}"/>
              </a:ext>
            </a:extLst>
          </p:cNvPr>
          <p:cNvSpPr txBox="1"/>
          <p:nvPr/>
        </p:nvSpPr>
        <p:spPr>
          <a:xfrm>
            <a:off x="228939" y="3953083"/>
            <a:ext cx="7618225" cy="111817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>
                <a:solidFill>
                  <a:srgbClr val="FFFFFF"/>
                </a:solidFill>
              </a:rPr>
              <a:t>Scope:</a:t>
            </a:r>
            <a:r>
              <a:rPr lang="en-US" dirty="0">
                <a:solidFill>
                  <a:srgbClr val="FFFFFF"/>
                </a:solidFill>
              </a:rPr>
              <a:t> Strategic Entry into the U.S. Domestic Aviation Market</a:t>
            </a:r>
            <a:br>
              <a:rPr lang="en-US" dirty="0"/>
            </a:br>
            <a:r>
              <a:rPr lang="en-US" b="1" dirty="0">
                <a:solidFill>
                  <a:srgbClr val="FFFFFF"/>
                </a:solidFill>
              </a:rPr>
              <a:t>Objective:</a:t>
            </a:r>
            <a:r>
              <a:rPr lang="en-US" dirty="0">
                <a:solidFill>
                  <a:srgbClr val="FFFFFF"/>
                </a:solidFill>
              </a:rPr>
              <a:t> Launch 5 High-Priority Round-Trip Routes with Punctuality as Core Value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CC640D-9A89-534C-F46B-DB31D285E38A}"/>
              </a:ext>
            </a:extLst>
          </p:cNvPr>
          <p:cNvSpPr txBox="1"/>
          <p:nvPr/>
        </p:nvSpPr>
        <p:spPr>
          <a:xfrm>
            <a:off x="2067441" y="3567813"/>
            <a:ext cx="5682511" cy="10396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AEE8CF-E3ED-BC8C-7F75-5B4CC9B12047}"/>
              </a:ext>
            </a:extLst>
          </p:cNvPr>
          <p:cNvSpPr txBox="1"/>
          <p:nvPr/>
        </p:nvSpPr>
        <p:spPr>
          <a:xfrm>
            <a:off x="8770701" y="6087840"/>
            <a:ext cx="340865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bg1"/>
                </a:solidFill>
                <a:ea typeface="Calibri"/>
                <a:cs typeface="Calibri"/>
              </a:rPr>
              <a:t>Presented by : Uma Shankar</a:t>
            </a:r>
            <a:endParaRPr lang="en-GB" dirty="0">
              <a:solidFill>
                <a:schemeClr val="bg1"/>
              </a:solidFill>
              <a:ea typeface="Calibri"/>
              <a:cs typeface="Calibri"/>
            </a:endParaRPr>
          </a:p>
          <a:p>
            <a:pPr algn="l"/>
            <a:endParaRPr lang="en-GB" dirty="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18149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Slide Background">
            <a:extLst>
              <a:ext uri="{FF2B5EF4-FFF2-40B4-BE49-F238E27FC236}">
                <a16:creationId xmlns:a16="http://schemas.microsoft.com/office/drawing/2014/main" id="{9165109B-7036-4613-93D4-579E77F6E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D03F1B-8BD0-4EB2-E857-F3F188447E9D}"/>
              </a:ext>
            </a:extLst>
          </p:cNvPr>
          <p:cNvSpPr txBox="1"/>
          <p:nvPr/>
        </p:nvSpPr>
        <p:spPr>
          <a:xfrm>
            <a:off x="17524" y="386424"/>
            <a:ext cx="3526572" cy="596900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r>
              <a:rPr lang="en-US" sz="3600" b="1" dirty="0">
                <a:latin typeface="Arial"/>
                <a:ea typeface="+mn-lt"/>
                <a:cs typeface="+mn-lt"/>
              </a:rPr>
              <a:t>Analyze Data and </a:t>
            </a:r>
            <a:r>
              <a:rPr lang="en-US" sz="3600" b="1" dirty="0">
                <a:solidFill>
                  <a:srgbClr val="000000"/>
                </a:solidFill>
                <a:latin typeface="Arial"/>
                <a:ea typeface="+mn-lt"/>
                <a:cs typeface="+mn-lt"/>
              </a:rPr>
              <a:t>Provide</a:t>
            </a:r>
            <a:r>
              <a:rPr lang="en-US" sz="3600" b="1" dirty="0">
                <a:latin typeface="Arial"/>
                <a:ea typeface="+mn-lt"/>
                <a:cs typeface="+mn-lt"/>
              </a:rPr>
              <a:t> Insights</a:t>
            </a:r>
            <a:endParaRPr lang="en-US" dirty="0">
              <a:latin typeface="Arial"/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43E8FEA2-54EE-4F84-B5DB-A055A7D80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36707" y="0"/>
            <a:ext cx="7455294" cy="6858000"/>
          </a:xfrm>
          <a:prstGeom prst="rect">
            <a:avLst/>
          </a:prstGeom>
          <a:ln>
            <a:noFill/>
          </a:ln>
          <a:effectLst>
            <a:outerShdw blurRad="317500" dist="228600" dir="798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2" name="TextBox 1">
            <a:extLst>
              <a:ext uri="{FF2B5EF4-FFF2-40B4-BE49-F238E27FC236}">
                <a16:creationId xmlns:a16="http://schemas.microsoft.com/office/drawing/2014/main" id="{93F91876-0046-05DC-E667-40EB86C1D3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6986363"/>
              </p:ext>
            </p:extLst>
          </p:nvPr>
        </p:nvGraphicFramePr>
        <p:xfrm>
          <a:off x="3761473" y="388673"/>
          <a:ext cx="8306857" cy="62269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6529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A373C1-7D1B-860B-1890-B35657539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5" name="Rectangle 144">
            <a:extLst>
              <a:ext uri="{FF2B5EF4-FFF2-40B4-BE49-F238E27FC236}">
                <a16:creationId xmlns:a16="http://schemas.microsoft.com/office/drawing/2014/main" id="{545D489D-16E1-484D-867B-144368D74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49A496F5-B01E-4BF8-9D1E-C4E53B6F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2257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Arc 151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2906963" y="1348064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E815DFDC-5F45-C273-127D-70EF40C63E51}"/>
              </a:ext>
            </a:extLst>
          </p:cNvPr>
          <p:cNvSpPr txBox="1"/>
          <p:nvPr/>
        </p:nvSpPr>
        <p:spPr>
          <a:xfrm>
            <a:off x="235689" y="997886"/>
            <a:ext cx="3553716" cy="433060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Preparation &amp; Quality for BI</a:t>
            </a:r>
            <a:br>
              <a:rPr lang="en-US" sz="3600" b="1" kern="1200" dirty="0"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(Cleansing, Transformation, and Key Considerations)</a:t>
            </a:r>
            <a:endParaRPr lang="en-US" sz="3600" kern="1200" dirty="0">
              <a:solidFill>
                <a:srgbClr val="FFFFFF"/>
              </a:solidFill>
              <a:latin typeface="+mj-lt"/>
              <a:ea typeface="Calibri Light"/>
              <a:cs typeface="Calibri Light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kern="1200" dirty="0">
              <a:solidFill>
                <a:srgbClr val="FFFFFF"/>
              </a:solidFill>
              <a:latin typeface="+mj-lt"/>
              <a:ea typeface="Calibri Light"/>
              <a:cs typeface="Calibri Light"/>
            </a:endParaRP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D4BCDE88-6729-50F8-A9A5-2AE6678D41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050529"/>
              </p:ext>
            </p:extLst>
          </p:nvPr>
        </p:nvGraphicFramePr>
        <p:xfrm>
          <a:off x="4836480" y="135924"/>
          <a:ext cx="6704267" cy="64693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3577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9E6688D-1DED-48EA-8368-FCD09C0B7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828194-340F-3366-76A7-77B85D492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8528" y="431212"/>
            <a:ext cx="3420305" cy="1481015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latin typeface="Calibri"/>
                <a:ea typeface="Calibri"/>
                <a:cs typeface="Calibri"/>
              </a:rPr>
              <a:t>Approach </a:t>
            </a:r>
            <a:r>
              <a:rPr lang="en-GB" sz="2800" b="1" dirty="0" err="1">
                <a:latin typeface="Calibri"/>
                <a:ea typeface="Calibri"/>
                <a:cs typeface="Calibri"/>
              </a:rPr>
              <a:t>towords</a:t>
            </a:r>
            <a:r>
              <a:rPr lang="en-GB" sz="2800" b="1" dirty="0">
                <a:latin typeface="Calibri"/>
                <a:ea typeface="Calibri"/>
                <a:cs typeface="Calibri"/>
              </a:rPr>
              <a:t> the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F7036-1AD8-62D8-AF86-AEED7A943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958" y="431212"/>
            <a:ext cx="6751712" cy="6142435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GB" sz="1200" b="1" dirty="0"/>
              <a:t> Step-by-Step Strategy:</a:t>
            </a:r>
            <a:endParaRPr lang="en-GB" sz="1200" dirty="0">
              <a:ea typeface="Calibri" panose="020F0502020204030204"/>
              <a:cs typeface="Calibri" panose="020F0502020204030204"/>
            </a:endParaRPr>
          </a:p>
          <a:p>
            <a:pPr marL="514350" indent="-514350">
              <a:buAutoNum type="arabicPeriod"/>
            </a:pPr>
            <a:r>
              <a:rPr lang="en-GB" sz="1200" b="1" dirty="0">
                <a:ea typeface="+mn-lt"/>
                <a:cs typeface="+mn-lt"/>
              </a:rPr>
              <a:t>Data Collection &amp; Integration</a:t>
            </a:r>
            <a:br>
              <a:rPr lang="en-GB" sz="1200" b="1" dirty="0">
                <a:ea typeface="+mn-lt"/>
                <a:cs typeface="+mn-lt"/>
              </a:rPr>
            </a:br>
            <a:r>
              <a:rPr lang="en-GB" sz="1200" dirty="0">
                <a:ea typeface="+mn-lt"/>
                <a:cs typeface="+mn-lt"/>
              </a:rPr>
              <a:t>Combined flights, Tickets and Airport Codes datasets.</a:t>
            </a:r>
            <a:endParaRPr lang="en-GB" sz="1200" dirty="0">
              <a:ea typeface="Calibri" panose="020F0502020204030204"/>
              <a:cs typeface="Calibri" panose="020F0502020204030204"/>
            </a:endParaRPr>
          </a:p>
          <a:p>
            <a:pPr>
              <a:buAutoNum type="arabicPeriod"/>
            </a:pPr>
            <a:r>
              <a:rPr lang="en-GB" sz="1200" b="1" dirty="0">
                <a:ea typeface="+mn-lt"/>
                <a:cs typeface="+mn-lt"/>
              </a:rPr>
              <a:t>Data Cleansing &amp; Transformation</a:t>
            </a:r>
            <a:endParaRPr lang="en-GB" sz="1200" dirty="0">
              <a:ea typeface="Calibri" panose="020F0502020204030204"/>
              <a:cs typeface="Calibri" panose="020F0502020204030204"/>
            </a:endParaRPr>
          </a:p>
          <a:p>
            <a:pPr lvl="1"/>
            <a:r>
              <a:rPr lang="en-GB" sz="1200" dirty="0">
                <a:ea typeface="+mn-lt"/>
                <a:cs typeface="+mn-lt"/>
              </a:rPr>
              <a:t>Removed nulls, corrected date formats, and standardized airport codes</a:t>
            </a:r>
            <a:endParaRPr lang="en-GB" sz="1200" dirty="0">
              <a:ea typeface="Calibri"/>
              <a:cs typeface="Calibri"/>
            </a:endParaRPr>
          </a:p>
          <a:p>
            <a:pPr lvl="1"/>
            <a:r>
              <a:rPr lang="en-GB" sz="1200" dirty="0">
                <a:ea typeface="+mn-lt"/>
                <a:cs typeface="+mn-lt"/>
              </a:rPr>
              <a:t>Calculated derived metrics: </a:t>
            </a:r>
            <a:r>
              <a:rPr lang="en-GB" sz="1200" dirty="0" err="1">
                <a:ea typeface="+mn-lt"/>
                <a:cs typeface="+mn-lt"/>
              </a:rPr>
              <a:t>delay_rate</a:t>
            </a:r>
            <a:r>
              <a:rPr lang="en-GB" sz="1200" dirty="0">
                <a:ea typeface="+mn-lt"/>
                <a:cs typeface="+mn-lt"/>
              </a:rPr>
              <a:t>, profit, </a:t>
            </a:r>
            <a:r>
              <a:rPr lang="en-GB" sz="1200" dirty="0" err="1">
                <a:ea typeface="+mn-lt"/>
                <a:cs typeface="+mn-lt"/>
              </a:rPr>
              <a:t>occupancy_rate</a:t>
            </a:r>
            <a:endParaRPr lang="en-GB" sz="1200" dirty="0">
              <a:ea typeface="+mn-lt"/>
              <a:cs typeface="+mn-lt"/>
            </a:endParaRPr>
          </a:p>
          <a:p>
            <a:pPr lvl="1"/>
            <a:r>
              <a:rPr lang="en-GB" sz="1200" dirty="0">
                <a:ea typeface="+mn-lt"/>
                <a:cs typeface="+mn-lt"/>
              </a:rPr>
              <a:t>Considering the US flights data.</a:t>
            </a:r>
          </a:p>
          <a:p>
            <a:pPr lvl="1"/>
            <a:r>
              <a:rPr lang="en-GB" sz="1200" dirty="0">
                <a:ea typeface="+mn-lt"/>
                <a:cs typeface="+mn-lt"/>
              </a:rPr>
              <a:t>Remove Cancelled flights.</a:t>
            </a:r>
          </a:p>
          <a:p>
            <a:pPr lvl="1"/>
            <a:r>
              <a:rPr lang="en-GB" sz="1200" dirty="0">
                <a:ea typeface="+mn-lt"/>
                <a:cs typeface="+mn-lt"/>
              </a:rPr>
              <a:t>Consider only </a:t>
            </a:r>
            <a:r>
              <a:rPr lang="en-GB" sz="1200" dirty="0" err="1">
                <a:ea typeface="+mn-lt"/>
                <a:cs typeface="+mn-lt"/>
              </a:rPr>
              <a:t>medium_airport</a:t>
            </a:r>
            <a:r>
              <a:rPr lang="en-GB" sz="1200" dirty="0">
                <a:ea typeface="+mn-lt"/>
                <a:cs typeface="+mn-lt"/>
              </a:rPr>
              <a:t> and  </a:t>
            </a:r>
            <a:r>
              <a:rPr lang="en-GB" sz="1200" dirty="0" err="1">
                <a:ea typeface="+mn-lt"/>
                <a:cs typeface="+mn-lt"/>
              </a:rPr>
              <a:t>large_airport</a:t>
            </a:r>
            <a:endParaRPr lang="en-GB" sz="1200">
              <a:ea typeface="+mn-lt"/>
              <a:cs typeface="+mn-lt"/>
            </a:endParaRPr>
          </a:p>
          <a:p>
            <a:pPr>
              <a:buAutoNum type="arabicPeriod"/>
            </a:pPr>
            <a:r>
              <a:rPr lang="en-GB" sz="1200" b="1" dirty="0">
                <a:ea typeface="+mn-lt"/>
                <a:cs typeface="+mn-lt"/>
              </a:rPr>
              <a:t>Performance Metric Definition</a:t>
            </a:r>
            <a:br>
              <a:rPr lang="en-GB" sz="1200" b="1" dirty="0">
                <a:ea typeface="+mn-lt"/>
                <a:cs typeface="+mn-lt"/>
              </a:rPr>
            </a:br>
            <a:r>
              <a:rPr lang="en-GB" sz="1200" b="1" dirty="0">
                <a:ea typeface="+mn-lt"/>
                <a:cs typeface="+mn-lt"/>
              </a:rPr>
              <a:t>Evaluated each route on key metrics:</a:t>
            </a:r>
            <a:endParaRPr lang="en-GB" sz="1200" dirty="0">
              <a:ea typeface="Calibri" panose="020F0502020204030204"/>
              <a:cs typeface="Calibri" panose="020F0502020204030204"/>
            </a:endParaRPr>
          </a:p>
          <a:p>
            <a:pPr lvl="1"/>
            <a:r>
              <a:rPr lang="en-GB" sz="1200" b="1" dirty="0">
                <a:ea typeface="+mn-lt"/>
                <a:cs typeface="+mn-lt"/>
              </a:rPr>
              <a:t>Punctuality (Delay Rate)</a:t>
            </a:r>
            <a:endParaRPr lang="en-GB" sz="1200" dirty="0">
              <a:ea typeface="Calibri"/>
              <a:cs typeface="Calibri"/>
            </a:endParaRPr>
          </a:p>
          <a:p>
            <a:pPr lvl="1"/>
            <a:r>
              <a:rPr lang="en-GB" sz="1200" b="1" dirty="0">
                <a:ea typeface="+mn-lt"/>
                <a:cs typeface="+mn-lt"/>
              </a:rPr>
              <a:t>Profitability</a:t>
            </a:r>
            <a:endParaRPr lang="en-GB" sz="1200" dirty="0">
              <a:ea typeface="Calibri"/>
              <a:cs typeface="Calibri"/>
            </a:endParaRPr>
          </a:p>
          <a:p>
            <a:pPr lvl="1"/>
            <a:r>
              <a:rPr lang="en-GB" sz="1200" b="1" dirty="0">
                <a:ea typeface="+mn-lt"/>
                <a:cs typeface="+mn-lt"/>
              </a:rPr>
              <a:t>Occupancy Rate (Passenger Load Factor)</a:t>
            </a:r>
            <a:endParaRPr lang="en-GB" sz="1200" dirty="0">
              <a:ea typeface="Calibri"/>
              <a:cs typeface="Calibri"/>
            </a:endParaRPr>
          </a:p>
          <a:p>
            <a:pPr lvl="1"/>
            <a:r>
              <a:rPr lang="en-GB" sz="1200" b="1" dirty="0">
                <a:ea typeface="+mn-lt"/>
                <a:cs typeface="+mn-lt"/>
              </a:rPr>
              <a:t>Fare vs. Distance Efficiency</a:t>
            </a:r>
            <a:endParaRPr lang="en-GB" sz="1200" dirty="0">
              <a:ea typeface="Calibri"/>
              <a:cs typeface="Calibri"/>
            </a:endParaRPr>
          </a:p>
          <a:p>
            <a:pPr lvl="1"/>
            <a:r>
              <a:rPr lang="en-GB" sz="1200" b="1" dirty="0">
                <a:ea typeface="+mn-lt"/>
                <a:cs typeface="+mn-lt"/>
              </a:rPr>
              <a:t>Decoking Costs</a:t>
            </a:r>
          </a:p>
          <a:p>
            <a:pPr lvl="1"/>
            <a:r>
              <a:rPr lang="en-GB" sz="1200" b="1" dirty="0">
                <a:ea typeface="+mn-lt"/>
                <a:cs typeface="+mn-lt"/>
              </a:rPr>
              <a:t>Fuel, Oil, Maintenance, Crew (FOMC) costs per mile</a:t>
            </a:r>
          </a:p>
          <a:p>
            <a:pPr lvl="1"/>
            <a:r>
              <a:rPr lang="en-GB" sz="1200" b="1" dirty="0">
                <a:ea typeface="+mn-lt"/>
                <a:cs typeface="+mn-lt"/>
              </a:rPr>
              <a:t>Depreciation, Insurance, Other (DIO) costs per mile</a:t>
            </a:r>
          </a:p>
          <a:p>
            <a:pPr>
              <a:buAutoNum type="arabicPeriod"/>
            </a:pPr>
            <a:r>
              <a:rPr lang="en-GB" sz="1200" b="1" dirty="0">
                <a:ea typeface="+mn-lt"/>
                <a:cs typeface="+mn-lt"/>
              </a:rPr>
              <a:t>Filtering Criteria for Route Shortlisting</a:t>
            </a:r>
            <a:endParaRPr lang="en-GB" sz="1200" dirty="0">
              <a:ea typeface="Calibri" panose="020F0502020204030204"/>
              <a:cs typeface="Calibri" panose="020F0502020204030204"/>
            </a:endParaRPr>
          </a:p>
          <a:p>
            <a:pPr lvl="1"/>
            <a:r>
              <a:rPr lang="en-GB" sz="1200" dirty="0">
                <a:ea typeface="+mn-lt"/>
                <a:cs typeface="+mn-lt"/>
              </a:rPr>
              <a:t>Routes with </a:t>
            </a:r>
            <a:r>
              <a:rPr lang="en-GB" sz="1200" b="1" dirty="0">
                <a:ea typeface="+mn-lt"/>
                <a:cs typeface="+mn-lt"/>
              </a:rPr>
              <a:t>&lt;20% delay rate</a:t>
            </a:r>
            <a:endParaRPr lang="en-GB" sz="1200" dirty="0">
              <a:ea typeface="Calibri"/>
              <a:cs typeface="Calibri"/>
            </a:endParaRPr>
          </a:p>
          <a:p>
            <a:pPr lvl="1"/>
            <a:r>
              <a:rPr lang="en-GB" sz="1200" dirty="0">
                <a:ea typeface="+mn-lt"/>
                <a:cs typeface="+mn-lt"/>
              </a:rPr>
              <a:t>Minimum </a:t>
            </a:r>
            <a:r>
              <a:rPr lang="en-GB" sz="1200" b="1" dirty="0">
                <a:ea typeface="+mn-lt"/>
                <a:cs typeface="+mn-lt"/>
              </a:rPr>
              <a:t>70% occupancy rate</a:t>
            </a:r>
            <a:endParaRPr lang="en-GB" sz="1200" dirty="0">
              <a:ea typeface="Calibri"/>
              <a:cs typeface="Calibri"/>
            </a:endParaRPr>
          </a:p>
          <a:p>
            <a:pPr lvl="1"/>
            <a:r>
              <a:rPr lang="en-GB" sz="1200" dirty="0">
                <a:ea typeface="+mn-lt"/>
                <a:cs typeface="+mn-lt"/>
              </a:rPr>
              <a:t>Positive </a:t>
            </a:r>
            <a:r>
              <a:rPr lang="en-GB" sz="1200" b="1" dirty="0">
                <a:ea typeface="+mn-lt"/>
                <a:cs typeface="+mn-lt"/>
              </a:rPr>
              <a:t>net profit margins</a:t>
            </a:r>
            <a:endParaRPr lang="en-GB" sz="1200" dirty="0">
              <a:ea typeface="Calibri"/>
              <a:cs typeface="Calibri"/>
            </a:endParaRPr>
          </a:p>
          <a:p>
            <a:pPr lvl="1"/>
            <a:r>
              <a:rPr lang="en-GB" sz="1200" dirty="0">
                <a:ea typeface="+mn-lt"/>
                <a:cs typeface="+mn-lt"/>
              </a:rPr>
              <a:t>Spread across different U.S. regions for geographic balance</a:t>
            </a:r>
            <a:endParaRPr lang="en-GB" sz="1200" dirty="0">
              <a:ea typeface="Calibri"/>
              <a:cs typeface="Calibri"/>
            </a:endParaRPr>
          </a:p>
          <a:p>
            <a:pPr>
              <a:buAutoNum type="arabicPeriod"/>
            </a:pPr>
            <a:r>
              <a:rPr lang="en-GB" sz="1200" b="1" dirty="0">
                <a:ea typeface="+mn-lt"/>
                <a:cs typeface="+mn-lt"/>
              </a:rPr>
              <a:t>Scoring &amp; Ranking</a:t>
            </a:r>
            <a:br>
              <a:rPr lang="en-GB" sz="1200" b="1" dirty="0">
                <a:ea typeface="+mn-lt"/>
                <a:cs typeface="+mn-lt"/>
              </a:rPr>
            </a:br>
            <a:r>
              <a:rPr lang="en-GB" sz="1200" b="1" dirty="0">
                <a:ea typeface="+mn-lt"/>
                <a:cs typeface="+mn-lt"/>
              </a:rPr>
              <a:t>Assigned scores to each route using weighted metrics:</a:t>
            </a:r>
            <a:endParaRPr lang="en-GB" sz="1200" dirty="0">
              <a:ea typeface="Calibri" panose="020F0502020204030204"/>
              <a:cs typeface="Calibri" panose="020F0502020204030204"/>
            </a:endParaRPr>
          </a:p>
          <a:p>
            <a:pPr lvl="1"/>
            <a:r>
              <a:rPr lang="en-GB" sz="1200" dirty="0">
                <a:ea typeface="+mn-lt"/>
                <a:cs typeface="+mn-lt"/>
              </a:rPr>
              <a:t>40% Punctuality</a:t>
            </a:r>
            <a:endParaRPr lang="en-GB" sz="1200" dirty="0">
              <a:ea typeface="Calibri"/>
              <a:cs typeface="Calibri"/>
            </a:endParaRPr>
          </a:p>
          <a:p>
            <a:pPr lvl="1"/>
            <a:r>
              <a:rPr lang="en-GB" sz="1200" dirty="0">
                <a:ea typeface="+mn-lt"/>
                <a:cs typeface="+mn-lt"/>
              </a:rPr>
              <a:t>30% Profitability</a:t>
            </a:r>
            <a:endParaRPr lang="en-GB" sz="1200" dirty="0">
              <a:ea typeface="Calibri"/>
              <a:cs typeface="Calibri"/>
            </a:endParaRPr>
          </a:p>
          <a:p>
            <a:pPr lvl="1"/>
            <a:r>
              <a:rPr lang="en-GB" sz="1200" dirty="0">
                <a:ea typeface="+mn-lt"/>
                <a:cs typeface="+mn-lt"/>
              </a:rPr>
              <a:t>20% Occupancy</a:t>
            </a:r>
            <a:endParaRPr lang="en-GB" sz="1200" dirty="0">
              <a:ea typeface="Calibri"/>
              <a:cs typeface="Calibri"/>
            </a:endParaRPr>
          </a:p>
          <a:p>
            <a:pPr lvl="1"/>
            <a:r>
              <a:rPr lang="en-GB" sz="1200" dirty="0">
                <a:ea typeface="+mn-lt"/>
                <a:cs typeface="+mn-lt"/>
              </a:rPr>
              <a:t>10% Distance Efficiency</a:t>
            </a:r>
            <a:endParaRPr lang="en-GB" sz="1200" dirty="0"/>
          </a:p>
          <a:p>
            <a:pPr>
              <a:buAutoNum type="arabicPeriod"/>
            </a:pPr>
            <a:endParaRPr lang="en-GB" sz="1100">
              <a:ea typeface="Calibri"/>
              <a:cs typeface="Calibri"/>
            </a:endParaRPr>
          </a:p>
        </p:txBody>
      </p:sp>
      <p:pic>
        <p:nvPicPr>
          <p:cNvPr id="17" name="Picture 16" descr="Stock exchange numbers">
            <a:extLst>
              <a:ext uri="{FF2B5EF4-FFF2-40B4-BE49-F238E27FC236}">
                <a16:creationId xmlns:a16="http://schemas.microsoft.com/office/drawing/2014/main" id="{72DA2DB7-6FFD-B934-2CF5-95DBD2810F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655" r="8619" b="7"/>
          <a:stretch>
            <a:fillRect/>
          </a:stretch>
        </p:blipFill>
        <p:spPr>
          <a:xfrm>
            <a:off x="7895996" y="1711395"/>
            <a:ext cx="4296004" cy="5146606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16BD38F4-5888-4B5B-836C-A316C522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7881712" y="-2"/>
            <a:ext cx="4310288" cy="6858002"/>
            <a:chOff x="0" y="-2"/>
            <a:chExt cx="4310288" cy="6858002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A3D150B-ADB5-401D-8304-C7845A109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768743"/>
              <a:ext cx="4310288" cy="64008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CD3AB31-A71C-4414-BA05-CF667CBA3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849283" y="3396995"/>
              <a:ext cx="6858002" cy="64008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0046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18B8E7-B5ED-AB27-6640-4EDD5CD8FF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419"/>
          <a:stretch>
            <a:fillRect/>
          </a:stretch>
        </p:blipFill>
        <p:spPr>
          <a:xfrm>
            <a:off x="-9886" y="10"/>
            <a:ext cx="7572605" cy="6857990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DA64458-0D64-19EB-AE6C-AF382F52D43B}"/>
              </a:ext>
            </a:extLst>
          </p:cNvPr>
          <p:cNvSpPr txBox="1"/>
          <p:nvPr/>
        </p:nvSpPr>
        <p:spPr>
          <a:xfrm>
            <a:off x="8186796" y="571116"/>
            <a:ext cx="3400784" cy="557126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b="1" dirty="0"/>
              <a:t>Q1: 10 Busiest Round-Trip Routes</a:t>
            </a:r>
            <a:endParaRPr lang="en-US" sz="1700" dirty="0">
              <a:ea typeface="Calibri" panose="020F0502020204030204"/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b="1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b="1"/>
              <a:t>Goal:</a:t>
            </a:r>
            <a:r>
              <a:rPr lang="en-US" sz="1700" dirty="0"/>
              <a:t> </a:t>
            </a:r>
            <a:endParaRPr lang="en-US" sz="1700" dirty="0">
              <a:ea typeface="Calibri" panose="020F0502020204030204"/>
              <a:cs typeface="Calibri" panose="020F0502020204030204"/>
            </a:endParaRP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Identify routes with the </a:t>
            </a:r>
            <a:r>
              <a:rPr lang="en-US" sz="1700" dirty="0"/>
              <a:t>highest number of completed round-trip flights in Q1 2019.</a:t>
            </a:r>
            <a:endParaRPr lang="en-US" sz="1700">
              <a:ea typeface="Calibri"/>
              <a:cs typeface="Calibri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700" dirty="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b="1" dirty="0"/>
              <a:t>Approach:</a:t>
            </a:r>
            <a:endParaRPr lang="en-US" sz="1700" b="1" dirty="0">
              <a:ea typeface="Calibri"/>
              <a:cs typeface="Calibri"/>
            </a:endParaRP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Filtered out canceled flights.</a:t>
            </a:r>
            <a:endParaRPr lang="en-US" sz="1700" dirty="0">
              <a:ea typeface="Calibri"/>
              <a:cs typeface="Calibri"/>
            </a:endParaRP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Grouped by origin-destination pairs.</a:t>
            </a: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Counted completed round trips.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700" b="1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b="1" dirty="0"/>
              <a:t>Outcome:</a:t>
            </a:r>
            <a:r>
              <a:rPr lang="en-US" sz="1700" dirty="0"/>
              <a:t> Ranked top 10 routes by round-trip frequency.</a:t>
            </a:r>
            <a:endParaRPr lang="en-US" sz="170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54146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A1D7C2-3D87-6D86-7205-1C964F45AA63}"/>
              </a:ext>
            </a:extLst>
          </p:cNvPr>
          <p:cNvSpPr txBox="1"/>
          <p:nvPr/>
        </p:nvSpPr>
        <p:spPr>
          <a:xfrm>
            <a:off x="406401" y="230555"/>
            <a:ext cx="9015045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Q2: 10 Most Profitable Routes</a:t>
            </a:r>
          </a:p>
          <a:p>
            <a:endParaRPr lang="en-US" b="1" dirty="0"/>
          </a:p>
          <a:p>
            <a:r>
              <a:rPr lang="en-US" b="1" dirty="0"/>
              <a:t>Goal:</a:t>
            </a:r>
            <a:r>
              <a:rPr lang="en-US" dirty="0"/>
              <a:t> Find routes generating the highest profit (excluding aircraft purchase cost).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b="1" dirty="0"/>
              <a:t>Approach:</a:t>
            </a:r>
            <a:endParaRPr lang="en-US" b="1" dirty="0">
              <a:ea typeface="Calibri" panose="020F0502020204030204"/>
              <a:cs typeface="Calibri" panose="020F0502020204030204"/>
            </a:endParaRPr>
          </a:p>
          <a:p>
            <a:pPr marL="228600" lvl="1" indent="-228600">
              <a:buFont typeface=""/>
              <a:buChar char="•"/>
            </a:pPr>
            <a:r>
              <a:rPr lang="en-US" dirty="0"/>
              <a:t>Excluded canceled flights.</a:t>
            </a:r>
            <a:endParaRPr lang="en-US" dirty="0">
              <a:ea typeface="Calibri"/>
              <a:cs typeface="Calibri"/>
            </a:endParaRPr>
          </a:p>
          <a:p>
            <a:pPr marL="228600" lvl="1" indent="-228600">
              <a:buFont typeface=""/>
              <a:buChar char="•"/>
            </a:pPr>
            <a:r>
              <a:rPr lang="en-US" dirty="0"/>
              <a:t>Calculated revenue and costs:</a:t>
            </a:r>
            <a:endParaRPr lang="en-US" dirty="0">
              <a:ea typeface="Calibri"/>
              <a:cs typeface="Calibri"/>
            </a:endParaRPr>
          </a:p>
          <a:p>
            <a:pPr marL="228600" lvl="2" indent="-228600">
              <a:buFont typeface=""/>
              <a:buChar char="•"/>
            </a:pPr>
            <a:r>
              <a:rPr lang="en-US" dirty="0"/>
              <a:t>Revenue = Sum of fares × passengers</a:t>
            </a:r>
            <a:endParaRPr lang="en-US" dirty="0">
              <a:ea typeface="Calibri"/>
              <a:cs typeface="Calibri"/>
            </a:endParaRPr>
          </a:p>
          <a:p>
            <a:pPr marL="228600" lvl="2" indent="-228600">
              <a:buFont typeface=""/>
              <a:buChar char="•"/>
            </a:pPr>
            <a:r>
              <a:rPr lang="en-US" dirty="0"/>
              <a:t>Costs include: fuel, maintenance, docking, crew, etc.</a:t>
            </a:r>
            <a:endParaRPr lang="en-US" dirty="0">
              <a:ea typeface="Calibri"/>
              <a:cs typeface="Calibri"/>
            </a:endParaRPr>
          </a:p>
          <a:p>
            <a:pPr marL="228600" lvl="2" indent="-228600">
              <a:buFont typeface=""/>
              <a:buChar char="•"/>
            </a:pPr>
            <a:r>
              <a:rPr lang="en-US" dirty="0"/>
              <a:t>Profit = Revenue – Total Cost</a:t>
            </a:r>
            <a:endParaRPr lang="en-US" dirty="0">
              <a:ea typeface="Calibri"/>
              <a:cs typeface="Calibri"/>
            </a:endParaRPr>
          </a:p>
          <a:p>
            <a:pPr marL="228600" lvl="1" indent="-228600">
              <a:buFont typeface=""/>
              <a:buChar char="•"/>
            </a:pPr>
            <a:r>
              <a:rPr lang="en-US" dirty="0"/>
              <a:t>Summarized key metrics: revenue, cost, profit, flight count, occupancy, delay, etc.</a:t>
            </a:r>
            <a:endParaRPr lang="en-US" dirty="0">
              <a:ea typeface="Calibri"/>
              <a:cs typeface="Calibri"/>
            </a:endParaRPr>
          </a:p>
          <a:p>
            <a:r>
              <a:rPr lang="en-US" b="1" dirty="0"/>
              <a:t>Outcome:</a:t>
            </a:r>
            <a:r>
              <a:rPr lang="en-US" dirty="0"/>
              <a:t> Top 10 most profitable routes, with component breakdowns.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" name="Picture 2" descr="A table with numbers and a number of items&#10;&#10;AI-generated content may be incorrect.">
            <a:extLst>
              <a:ext uri="{FF2B5EF4-FFF2-40B4-BE49-F238E27FC236}">
                <a16:creationId xmlns:a16="http://schemas.microsoft.com/office/drawing/2014/main" id="{FB5BD536-2ABD-EEC3-91CE-30DE2BBAE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825"/>
            <a:ext cx="12192000" cy="3302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570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16F3CA-0ADA-C58B-B706-944E86047372}"/>
              </a:ext>
            </a:extLst>
          </p:cNvPr>
          <p:cNvSpPr txBox="1"/>
          <p:nvPr/>
        </p:nvSpPr>
        <p:spPr>
          <a:xfrm>
            <a:off x="347785" y="171940"/>
            <a:ext cx="715889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Q3: 5 Recommended Routes to Invest In</a:t>
            </a:r>
          </a:p>
          <a:p>
            <a:r>
              <a:rPr lang="en-US" b="1" dirty="0"/>
              <a:t>Goal:</a:t>
            </a:r>
            <a:r>
              <a:rPr lang="en-US" dirty="0"/>
              <a:t> Recommend high-potential routes balancing business and operational efficiency.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b="1" dirty="0"/>
              <a:t>Approach:</a:t>
            </a:r>
            <a:endParaRPr lang="en-US" b="1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Picture 3" descr="A screenshot of a report&#10;&#10;AI-generated content may be incorrect.">
            <a:extLst>
              <a:ext uri="{FF2B5EF4-FFF2-40B4-BE49-F238E27FC236}">
                <a16:creationId xmlns:a16="http://schemas.microsoft.com/office/drawing/2014/main" id="{4B6412C4-622A-406E-E640-D1A2C9878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38" y="1715154"/>
            <a:ext cx="11693770" cy="3583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911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8EC840-46B5-E693-0320-F233C529872B}"/>
              </a:ext>
            </a:extLst>
          </p:cNvPr>
          <p:cNvSpPr txBox="1"/>
          <p:nvPr/>
        </p:nvSpPr>
        <p:spPr>
          <a:xfrm>
            <a:off x="1152769" y="918307"/>
            <a:ext cx="57833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dirty="0">
                <a:ea typeface="Calibri"/>
                <a:cs typeface="Calibri"/>
              </a:rPr>
              <a:t>Result:</a:t>
            </a:r>
            <a:endParaRPr lang="en-GB" dirty="0"/>
          </a:p>
        </p:txBody>
      </p:sp>
      <p:pic>
        <p:nvPicPr>
          <p:cNvPr id="3" name="Picture 2" descr="A group of circles with different colors">
            <a:extLst>
              <a:ext uri="{FF2B5EF4-FFF2-40B4-BE49-F238E27FC236}">
                <a16:creationId xmlns:a16="http://schemas.microsoft.com/office/drawing/2014/main" id="{37357B07-56B3-9C22-A221-3E3B99D27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271" y="1371773"/>
            <a:ext cx="10185458" cy="5013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044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892A02-32A5-99EF-4FC5-0D58FFBC8CF7}"/>
              </a:ext>
            </a:extLst>
          </p:cNvPr>
          <p:cNvSpPr txBox="1"/>
          <p:nvPr/>
        </p:nvSpPr>
        <p:spPr>
          <a:xfrm>
            <a:off x="252888" y="770671"/>
            <a:ext cx="5196936" cy="543810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900" b="1" dirty="0"/>
              <a:t>Q4: Breakeven Flights for Upfront Airplane Cost</a:t>
            </a:r>
            <a:endParaRPr lang="en-US" sz="1900" dirty="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900" b="1" dirty="0"/>
              <a:t>Goal:</a:t>
            </a:r>
            <a:r>
              <a:rPr lang="en-US" sz="1900" dirty="0"/>
              <a:t> Calculate how many round trips are needed to recover the aircraft purchase cost.</a:t>
            </a:r>
            <a:endParaRPr lang="en-US" sz="1900" dirty="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900" b="1" dirty="0"/>
              <a:t>Approach:</a:t>
            </a:r>
            <a:endParaRPr lang="en-US" sz="1900" b="1" dirty="0">
              <a:ea typeface="Calibri" panose="020F0502020204030204"/>
              <a:cs typeface="Calibri" panose="020F0502020204030204"/>
            </a:endParaRP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Use the </a:t>
            </a:r>
            <a:r>
              <a:rPr lang="en-US" sz="1900" b="1" dirty="0"/>
              <a:t>net profit per round trip</a:t>
            </a:r>
            <a:r>
              <a:rPr lang="en-US" sz="1900" dirty="0"/>
              <a:t> for each recommended route.</a:t>
            </a:r>
            <a:endParaRPr lang="en-US" sz="1900" dirty="0">
              <a:ea typeface="Calibri"/>
              <a:cs typeface="Calibri"/>
            </a:endParaRP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Divide the </a:t>
            </a:r>
            <a:r>
              <a:rPr lang="en-US" sz="1900" b="1" dirty="0"/>
              <a:t>airplane purchase cost</a:t>
            </a:r>
            <a:r>
              <a:rPr lang="en-US" sz="1900" dirty="0"/>
              <a:t> ($90M per aircraft) by </a:t>
            </a:r>
            <a:r>
              <a:rPr lang="en-US" sz="1900" b="1" dirty="0"/>
              <a:t>profit per round trip</a:t>
            </a:r>
            <a:r>
              <a:rPr lang="en-US" sz="1900" dirty="0"/>
              <a:t>.</a:t>
            </a:r>
            <a:endParaRPr lang="en-US" sz="1900" dirty="0">
              <a:ea typeface="Calibri"/>
              <a:cs typeface="Calibri"/>
            </a:endParaRP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Breakeven Flights=Airplane Cost / Profit per </a:t>
            </a:r>
            <a:r>
              <a:rPr lang="en-US" sz="1900"/>
              <a:t>Round Trip.</a:t>
            </a:r>
            <a:endParaRPr lang="en-US" sz="19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dirty="0"/>
          </a:p>
        </p:txBody>
      </p:sp>
      <p:pic>
        <p:nvPicPr>
          <p:cNvPr id="5" name="Picture 4" descr="A graph of a number of flights&#10;&#10;AI-generated content may be incorrect.">
            <a:extLst>
              <a:ext uri="{FF2B5EF4-FFF2-40B4-BE49-F238E27FC236}">
                <a16:creationId xmlns:a16="http://schemas.microsoft.com/office/drawing/2014/main" id="{8DEA9A5A-BB57-E89F-AEE7-5F4695A72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127" y="637720"/>
            <a:ext cx="6908935" cy="4956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213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5BE3E8-F3F9-59C1-8565-6CE78F34D5AB}"/>
              </a:ext>
            </a:extLst>
          </p:cNvPr>
          <p:cNvSpPr txBox="1"/>
          <p:nvPr/>
        </p:nvSpPr>
        <p:spPr>
          <a:xfrm>
            <a:off x="259862" y="367324"/>
            <a:ext cx="1083212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Track high-impact metrics to ensure each route is </a:t>
            </a:r>
            <a:r>
              <a:rPr lang="en-US" b="1"/>
              <a:t>profitable</a:t>
            </a:r>
            <a:r>
              <a:rPr lang="en-US"/>
              <a:t>, </a:t>
            </a:r>
            <a:r>
              <a:rPr lang="en-US" b="1"/>
              <a:t>efficient</a:t>
            </a:r>
            <a:r>
              <a:rPr lang="en-US"/>
              <a:t>, and aligned with our promise:</a:t>
            </a:r>
            <a:br>
              <a:rPr lang="en-US"/>
            </a:br>
            <a:r>
              <a:rPr lang="en-US" b="1" i="1"/>
              <a:t>“On time, for you.”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E0EB43-68F4-C302-E9F7-D99315630577}"/>
              </a:ext>
            </a:extLst>
          </p:cNvPr>
          <p:cNvSpPr txBox="1"/>
          <p:nvPr/>
        </p:nvSpPr>
        <p:spPr>
          <a:xfrm>
            <a:off x="254979" y="1119555"/>
            <a:ext cx="4081583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/>
              <a:t>💰 </a:t>
            </a:r>
            <a:r>
              <a:rPr lang="en-US" sz="1400" b="1" dirty="0">
                <a:solidFill>
                  <a:schemeClr val="accent6">
                    <a:lumMod val="76000"/>
                  </a:schemeClr>
                </a:solidFill>
              </a:rPr>
              <a:t>Financial Performance</a:t>
            </a:r>
            <a:endParaRPr lang="en-US" sz="1400" b="1" dirty="0">
              <a:solidFill>
                <a:schemeClr val="accent6">
                  <a:lumMod val="76000"/>
                </a:schemeClr>
              </a:solidFill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1400" b="1" dirty="0"/>
              <a:t>Profit</a:t>
            </a:r>
            <a:br>
              <a:rPr lang="en-US" sz="1400" dirty="0"/>
            </a:br>
            <a:r>
              <a:rPr lang="en-US" sz="1400" dirty="0"/>
              <a:t>  Measures the absolute earnings per route.</a:t>
            </a:r>
            <a:endParaRPr lang="en-US" sz="14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1400" b="1" dirty="0"/>
              <a:t>Profit Margin</a:t>
            </a:r>
            <a:br>
              <a:rPr lang="en-US" sz="1400" dirty="0"/>
            </a:br>
            <a:r>
              <a:rPr lang="en-US" sz="1400" dirty="0"/>
              <a:t>  Indicates financial efficiency (Profit ÷ Revenue).</a:t>
            </a:r>
            <a:endParaRPr lang="en-US" sz="14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1400" b="1" dirty="0">
                <a:ea typeface="Calibri"/>
                <a:cs typeface="Calibri"/>
              </a:rPr>
              <a:t>Total Revenue</a:t>
            </a:r>
            <a:br>
              <a:rPr lang="en-US" sz="1400" dirty="0"/>
            </a:br>
            <a:r>
              <a:rPr lang="en-US" sz="1400" dirty="0"/>
              <a:t>   Aggregate income from tickets and services.</a:t>
            </a:r>
            <a:endParaRPr lang="en-US" sz="1400" dirty="0"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FB081E-A5B0-711C-DF7B-C25C67422ED2}"/>
              </a:ext>
            </a:extLst>
          </p:cNvPr>
          <p:cNvSpPr txBox="1"/>
          <p:nvPr/>
        </p:nvSpPr>
        <p:spPr>
          <a:xfrm>
            <a:off x="254982" y="2726593"/>
            <a:ext cx="4985233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400" b="1" dirty="0"/>
          </a:p>
          <a:p>
            <a:r>
              <a:rPr lang="en-US" sz="1400" b="1" dirty="0"/>
              <a:t>⚙️ </a:t>
            </a:r>
            <a:r>
              <a:rPr lang="en-US" sz="1400" b="1" dirty="0">
                <a:solidFill>
                  <a:schemeClr val="accent1"/>
                </a:solidFill>
              </a:rPr>
              <a:t>Operational Efficiency</a:t>
            </a:r>
            <a:endParaRPr lang="en-US" sz="1400" dirty="0">
              <a:solidFill>
                <a:schemeClr val="accent1"/>
              </a:solidFill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1400" b="1" dirty="0"/>
              <a:t>Occupancy Average</a:t>
            </a:r>
            <a:endParaRPr lang="en-US" sz="1400" b="1" dirty="0">
              <a:ea typeface="Calibri"/>
              <a:cs typeface="Calibri"/>
            </a:endParaRPr>
          </a:p>
          <a:p>
            <a:r>
              <a:rPr lang="en-US" sz="1400" b="1" dirty="0">
                <a:ea typeface="Calibri"/>
                <a:cs typeface="Calibri"/>
              </a:rPr>
              <a:t>  </a:t>
            </a:r>
            <a:r>
              <a:rPr lang="en-US" sz="1400" dirty="0">
                <a:ea typeface="Calibri"/>
                <a:cs typeface="Calibri"/>
              </a:rPr>
              <a:t>Average % of seats filled — demand indicator</a:t>
            </a:r>
            <a:endParaRPr lang="en-US" sz="1400" b="1" dirty="0">
              <a:ea typeface="Calibri"/>
              <a:cs typeface="Calibri"/>
            </a:endParaRPr>
          </a:p>
          <a:p>
            <a:pPr marL="228600" indent="-228600">
              <a:buFont typeface="Arial"/>
              <a:buChar char="•"/>
            </a:pPr>
            <a:r>
              <a:rPr lang="en-US" sz="1400" b="1" dirty="0">
                <a:ea typeface="Calibri"/>
                <a:cs typeface="Calibri"/>
              </a:rPr>
              <a:t>Cost</a:t>
            </a:r>
            <a:r>
              <a:rPr lang="en-US" sz="1400" b="1" dirty="0"/>
              <a:t> per Mile per Passenger</a:t>
            </a:r>
            <a:br>
              <a:rPr lang="en-US" sz="1400" b="1" dirty="0"/>
            </a:br>
            <a:r>
              <a:rPr lang="en-US" sz="1400" dirty="0"/>
              <a:t>Measures route-level cost efficiency.</a:t>
            </a:r>
            <a:endParaRPr lang="en-US" sz="1400">
              <a:ea typeface="Calibri"/>
              <a:cs typeface="Calibri"/>
            </a:endParaRPr>
          </a:p>
          <a:p>
            <a:pPr marL="228600" indent="-228600">
              <a:buFont typeface="Arial"/>
              <a:buChar char="•"/>
            </a:pPr>
            <a:r>
              <a:rPr lang="en-US" sz="1400" b="1" dirty="0"/>
              <a:t>Fuel &amp; Maintenance Cost per Route</a:t>
            </a:r>
            <a:br>
              <a:rPr lang="en-US" sz="1400" b="1" dirty="0"/>
            </a:br>
            <a:r>
              <a:rPr lang="en-US" sz="1400" dirty="0"/>
              <a:t>Tracks operational expense trends.</a:t>
            </a:r>
            <a:endParaRPr lang="en-US" sz="1400">
              <a:ea typeface="Calibri"/>
              <a:cs typeface="Calibri"/>
            </a:endParaRPr>
          </a:p>
          <a:p>
            <a:pPr marL="228600" indent="-228600">
              <a:buFont typeface="Arial"/>
              <a:buChar char="•"/>
            </a:pPr>
            <a:r>
              <a:rPr lang="en-US" sz="1400" b="1" dirty="0"/>
              <a:t>Roundtrip Count</a:t>
            </a:r>
            <a:br>
              <a:rPr lang="en-US" sz="1400" b="1" dirty="0">
                <a:ea typeface="Calibri"/>
                <a:cs typeface="Calibri"/>
              </a:rPr>
            </a:br>
            <a:r>
              <a:rPr lang="en-US" sz="1400" dirty="0"/>
              <a:t>Shows flight frequency and market presence.</a:t>
            </a:r>
            <a:endParaRPr lang="en-US" sz="1400" dirty="0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4E9452-CB50-5BF7-13D3-B9D71E622ABD}"/>
              </a:ext>
            </a:extLst>
          </p:cNvPr>
          <p:cNvSpPr txBox="1"/>
          <p:nvPr/>
        </p:nvSpPr>
        <p:spPr>
          <a:xfrm>
            <a:off x="254978" y="5124938"/>
            <a:ext cx="4086470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/>
              <a:t>⏱ </a:t>
            </a:r>
            <a:r>
              <a:rPr lang="en-US" sz="1400" b="1" dirty="0">
                <a:solidFill>
                  <a:schemeClr val="accent4">
                    <a:lumMod val="76000"/>
                  </a:schemeClr>
                </a:solidFill>
              </a:rPr>
              <a:t>Punctuality &amp; Experience</a:t>
            </a:r>
            <a:endParaRPr lang="en-US" sz="1400" b="1">
              <a:solidFill>
                <a:schemeClr val="accent4">
                  <a:lumMod val="76000"/>
                </a:schemeClr>
              </a:solidFill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1400" b="1" dirty="0"/>
              <a:t>Departure Delay</a:t>
            </a:r>
            <a:br>
              <a:rPr lang="en-US" sz="1400" dirty="0"/>
            </a:br>
            <a:r>
              <a:rPr lang="en-US" sz="1400" dirty="0"/>
              <a:t>Tracks average departure lag; key for satisfaction and avoid cancellation.</a:t>
            </a:r>
            <a:endParaRPr lang="en-US" sz="1400" dirty="0" err="1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1400" b="1" dirty="0"/>
              <a:t>Early Arrivals</a:t>
            </a:r>
            <a:br>
              <a:rPr lang="en-US" sz="1400" dirty="0"/>
            </a:br>
            <a:r>
              <a:rPr lang="en-US" sz="1400" dirty="0"/>
              <a:t>A positive CX metric; early = delight.</a:t>
            </a:r>
            <a:endParaRPr lang="en-US" sz="1400" dirty="0">
              <a:ea typeface="Calibri"/>
              <a:cs typeface="Calibri"/>
            </a:endParaRPr>
          </a:p>
        </p:txBody>
      </p:sp>
      <p:pic>
        <p:nvPicPr>
          <p:cNvPr id="8" name="Picture 7" descr="A diagram of a graph&#10;&#10;AI-generated content may be incorrect.">
            <a:extLst>
              <a:ext uri="{FF2B5EF4-FFF2-40B4-BE49-F238E27FC236}">
                <a16:creationId xmlns:a16="http://schemas.microsoft.com/office/drawing/2014/main" id="{4C304083-F008-55C8-B522-C379F138D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426" y="930803"/>
            <a:ext cx="7566209" cy="579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483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127</TotalTime>
  <Words>932</Words>
  <Application>Microsoft Office PowerPoint</Application>
  <PresentationFormat>Widescreen</PresentationFormat>
  <Paragraphs>97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Capital One Air | Project Elevate </vt:lpstr>
      <vt:lpstr>PowerPoint Presentation</vt:lpstr>
      <vt:lpstr>PowerPoint Presentation</vt:lpstr>
      <vt:lpstr>Approach towords the solution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Capital One Air | Project Elevate</dc:title>
  <dc:creator>Chintha uma shanker</dc:creator>
  <cp:lastModifiedBy>chintha uma shanker</cp:lastModifiedBy>
  <cp:revision>669</cp:revision>
  <dcterms:created xsi:type="dcterms:W3CDTF">2025-05-23T17:50:32Z</dcterms:created>
  <dcterms:modified xsi:type="dcterms:W3CDTF">2025-05-24T16:58:42Z</dcterms:modified>
</cp:coreProperties>
</file>